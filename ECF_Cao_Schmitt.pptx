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handoutMasterIdLst>
    <p:handoutMasterId r:id="rId12"/>
  </p:handoutMasterIdLst>
  <p:sldIdLst>
    <p:sldId id="258" r:id="rId2"/>
    <p:sldId id="259" r:id="rId3"/>
    <p:sldId id="260" r:id="rId4"/>
    <p:sldId id="261" r:id="rId5"/>
    <p:sldId id="263" r:id="rId6"/>
    <p:sldId id="269" r:id="rId7"/>
    <p:sldId id="270" r:id="rId8"/>
    <p:sldId id="266" r:id="rId9"/>
    <p:sldId id="267" r:id="rId10"/>
  </p:sldIdLst>
  <p:sldSz cx="9144000" cy="5143500" type="screen16x9"/>
  <p:notesSz cx="13004800" cy="9753600"/>
  <p:defaultTextStyle>
    <a:defPPr>
      <a:defRPr lang="de-DE"/>
    </a:defPPr>
    <a:lvl1pPr marL="0" algn="l" defTabSz="286962" rtl="0" eaLnBrk="1" latinLnBrk="0" hangingPunct="1">
      <a:defRPr sz="1100" kern="1200">
        <a:solidFill>
          <a:schemeClr val="tx1"/>
        </a:solidFill>
        <a:latin typeface="+mn-lt"/>
        <a:ea typeface="+mn-ea"/>
        <a:cs typeface="+mn-cs"/>
      </a:defRPr>
    </a:lvl1pPr>
    <a:lvl2pPr marL="286962" algn="l" defTabSz="286962" rtl="0" eaLnBrk="1" latinLnBrk="0" hangingPunct="1">
      <a:defRPr sz="1100" kern="1200">
        <a:solidFill>
          <a:schemeClr val="tx1"/>
        </a:solidFill>
        <a:latin typeface="+mn-lt"/>
        <a:ea typeface="+mn-ea"/>
        <a:cs typeface="+mn-cs"/>
      </a:defRPr>
    </a:lvl2pPr>
    <a:lvl3pPr marL="573925" algn="l" defTabSz="286962" rtl="0" eaLnBrk="1" latinLnBrk="0" hangingPunct="1">
      <a:defRPr sz="1100" kern="1200">
        <a:solidFill>
          <a:schemeClr val="tx1"/>
        </a:solidFill>
        <a:latin typeface="+mn-lt"/>
        <a:ea typeface="+mn-ea"/>
        <a:cs typeface="+mn-cs"/>
      </a:defRPr>
    </a:lvl3pPr>
    <a:lvl4pPr marL="860887" algn="l" defTabSz="286962" rtl="0" eaLnBrk="1" latinLnBrk="0" hangingPunct="1">
      <a:defRPr sz="1100" kern="1200">
        <a:solidFill>
          <a:schemeClr val="tx1"/>
        </a:solidFill>
        <a:latin typeface="+mn-lt"/>
        <a:ea typeface="+mn-ea"/>
        <a:cs typeface="+mn-cs"/>
      </a:defRPr>
    </a:lvl4pPr>
    <a:lvl5pPr marL="1147851" algn="l" defTabSz="286962" rtl="0" eaLnBrk="1" latinLnBrk="0" hangingPunct="1">
      <a:defRPr sz="1100" kern="1200">
        <a:solidFill>
          <a:schemeClr val="tx1"/>
        </a:solidFill>
        <a:latin typeface="+mn-lt"/>
        <a:ea typeface="+mn-ea"/>
        <a:cs typeface="+mn-cs"/>
      </a:defRPr>
    </a:lvl5pPr>
    <a:lvl6pPr marL="1434813" algn="l" defTabSz="286962" rtl="0" eaLnBrk="1" latinLnBrk="0" hangingPunct="1">
      <a:defRPr sz="1100" kern="1200">
        <a:solidFill>
          <a:schemeClr val="tx1"/>
        </a:solidFill>
        <a:latin typeface="+mn-lt"/>
        <a:ea typeface="+mn-ea"/>
        <a:cs typeface="+mn-cs"/>
      </a:defRPr>
    </a:lvl6pPr>
    <a:lvl7pPr marL="1721776" algn="l" defTabSz="286962" rtl="0" eaLnBrk="1" latinLnBrk="0" hangingPunct="1">
      <a:defRPr sz="1100" kern="1200">
        <a:solidFill>
          <a:schemeClr val="tx1"/>
        </a:solidFill>
        <a:latin typeface="+mn-lt"/>
        <a:ea typeface="+mn-ea"/>
        <a:cs typeface="+mn-cs"/>
      </a:defRPr>
    </a:lvl7pPr>
    <a:lvl8pPr marL="2008738" algn="l" defTabSz="286962" rtl="0" eaLnBrk="1" latinLnBrk="0" hangingPunct="1">
      <a:defRPr sz="1100" kern="1200">
        <a:solidFill>
          <a:schemeClr val="tx1"/>
        </a:solidFill>
        <a:latin typeface="+mn-lt"/>
        <a:ea typeface="+mn-ea"/>
        <a:cs typeface="+mn-cs"/>
      </a:defRPr>
    </a:lvl8pPr>
    <a:lvl9pPr marL="2295702" algn="l" defTabSz="286962" rtl="0" eaLnBrk="1" latinLnBrk="0" hangingPunct="1">
      <a:defRPr sz="1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64" userDrawn="1">
          <p15:clr>
            <a:srgbClr val="A4A3A4"/>
          </p15:clr>
        </p15:guide>
        <p15:guide id="2" pos="-4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F96D4"/>
    <a:srgbClr val="D0D8E8"/>
    <a:srgbClr val="F5F4F0"/>
    <a:srgbClr val="F4F2EA"/>
    <a:srgbClr val="4F334E"/>
    <a:srgbClr val="8390FF"/>
    <a:srgbClr val="948B6C"/>
    <a:srgbClr val="FBC1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43" autoAdjust="0"/>
    <p:restoredTop sz="81707" autoAdjust="0"/>
  </p:normalViewPr>
  <p:slideViewPr>
    <p:cSldViewPr>
      <p:cViewPr varScale="1">
        <p:scale>
          <a:sx n="122" d="100"/>
          <a:sy n="122" d="100"/>
        </p:scale>
        <p:origin x="488" y="192"/>
      </p:cViewPr>
      <p:guideLst>
        <p:guide orient="horz" pos="-1164"/>
        <p:guide pos="-4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5635625" cy="487363"/>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7366000" y="0"/>
            <a:ext cx="5635625" cy="487363"/>
          </a:xfrm>
          <a:prstGeom prst="rect">
            <a:avLst/>
          </a:prstGeom>
        </p:spPr>
        <p:txBody>
          <a:bodyPr vert="horz" lIns="91440" tIns="45720" rIns="91440" bIns="45720" rtlCol="0"/>
          <a:lstStyle>
            <a:lvl1pPr algn="r">
              <a:defRPr sz="1200"/>
            </a:lvl1pPr>
          </a:lstStyle>
          <a:p>
            <a:fld id="{442DDC49-609A-3B44-A1C6-133788245302}" type="datetime1">
              <a:rPr lang="de-DE" smtClean="0"/>
              <a:pPr/>
              <a:t>12.05.26</a:t>
            </a:fld>
            <a:endParaRPr lang="de-DE"/>
          </a:p>
        </p:txBody>
      </p:sp>
      <p:sp>
        <p:nvSpPr>
          <p:cNvPr id="4" name="Fußzeilenplatzhalter 3"/>
          <p:cNvSpPr>
            <a:spLocks noGrp="1"/>
          </p:cNvSpPr>
          <p:nvPr>
            <p:ph type="ftr" sz="quarter" idx="2"/>
          </p:nvPr>
        </p:nvSpPr>
        <p:spPr>
          <a:xfrm>
            <a:off x="0" y="9264650"/>
            <a:ext cx="5635625" cy="487363"/>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7366000" y="9264650"/>
            <a:ext cx="5635625" cy="487363"/>
          </a:xfrm>
          <a:prstGeom prst="rect">
            <a:avLst/>
          </a:prstGeom>
        </p:spPr>
        <p:txBody>
          <a:bodyPr vert="horz" lIns="91440" tIns="45720" rIns="91440" bIns="45720" rtlCol="0" anchor="b"/>
          <a:lstStyle>
            <a:lvl1pPr algn="r">
              <a:defRPr sz="1200"/>
            </a:lvl1pPr>
          </a:lstStyle>
          <a:p>
            <a:fld id="{747525CF-7212-804E-9855-29706471529B}" type="slidenum">
              <a:rPr lang="de-DE" smtClean="0"/>
              <a:pPr/>
              <a:t>‹#›</a:t>
            </a:fld>
            <a:endParaRPr lang="de-DE"/>
          </a:p>
        </p:txBody>
      </p:sp>
    </p:spTree>
    <p:extLst>
      <p:ext uri="{BB962C8B-B14F-4D97-AF65-F5344CB8AC3E}">
        <p14:creationId xmlns:p14="http://schemas.microsoft.com/office/powerpoint/2010/main" val="420645022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5635625" cy="487363"/>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7366000" y="0"/>
            <a:ext cx="5635625" cy="487363"/>
          </a:xfrm>
          <a:prstGeom prst="rect">
            <a:avLst/>
          </a:prstGeom>
        </p:spPr>
        <p:txBody>
          <a:bodyPr vert="horz" lIns="91440" tIns="45720" rIns="91440" bIns="45720" rtlCol="0"/>
          <a:lstStyle>
            <a:lvl1pPr algn="r">
              <a:defRPr sz="1200"/>
            </a:lvl1pPr>
          </a:lstStyle>
          <a:p>
            <a:fld id="{66C661A5-9AB9-1949-9B9A-C46C190AE8BF}" type="datetime1">
              <a:rPr lang="de-DE" smtClean="0"/>
              <a:pPr/>
              <a:t>12.05.26</a:t>
            </a:fld>
            <a:endParaRPr lang="de-DE"/>
          </a:p>
        </p:txBody>
      </p:sp>
      <p:sp>
        <p:nvSpPr>
          <p:cNvPr id="4" name="Folienbildplatzhalter 3"/>
          <p:cNvSpPr>
            <a:spLocks noGrp="1" noRot="1" noChangeAspect="1"/>
          </p:cNvSpPr>
          <p:nvPr>
            <p:ph type="sldImg" idx="2"/>
          </p:nvPr>
        </p:nvSpPr>
        <p:spPr>
          <a:xfrm>
            <a:off x="3251200" y="731838"/>
            <a:ext cx="6502400" cy="36576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1300163" y="4632325"/>
            <a:ext cx="10404475" cy="43894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264650"/>
            <a:ext cx="5635625" cy="487363"/>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7366000" y="9264650"/>
            <a:ext cx="5635625" cy="487363"/>
          </a:xfrm>
          <a:prstGeom prst="rect">
            <a:avLst/>
          </a:prstGeom>
        </p:spPr>
        <p:txBody>
          <a:bodyPr vert="horz" lIns="91440" tIns="45720" rIns="91440" bIns="45720" rtlCol="0" anchor="b"/>
          <a:lstStyle>
            <a:lvl1pPr algn="r">
              <a:defRPr sz="1200"/>
            </a:lvl1pPr>
          </a:lstStyle>
          <a:p>
            <a:fld id="{584A433B-D369-FE47-BCB2-D5C24AAD91F8}" type="slidenum">
              <a:rPr lang="de-DE" smtClean="0"/>
              <a:pPr/>
              <a:t>‹#›</a:t>
            </a:fld>
            <a:endParaRPr lang="de-DE"/>
          </a:p>
        </p:txBody>
      </p:sp>
    </p:spTree>
    <p:extLst>
      <p:ext uri="{BB962C8B-B14F-4D97-AF65-F5344CB8AC3E}">
        <p14:creationId xmlns:p14="http://schemas.microsoft.com/office/powerpoint/2010/main" val="3781872226"/>
      </p:ext>
    </p:extLst>
  </p:cSld>
  <p:clrMap bg1="lt1" tx1="dk1" bg2="lt2" tx2="dk2" accent1="accent1" accent2="accent2" accent3="accent3" accent4="accent4" accent5="accent5" accent6="accent6" hlink="hlink" folHlink="folHlink"/>
  <p:hf sldNum="0" hdr="0" ftr="0" dt="0"/>
  <p:notesStyle>
    <a:lvl1pPr marL="0" algn="l" defTabSz="286962" rtl="0" eaLnBrk="1" latinLnBrk="0" hangingPunct="1">
      <a:defRPr sz="800" kern="1200">
        <a:solidFill>
          <a:schemeClr val="tx1"/>
        </a:solidFill>
        <a:latin typeface="+mn-lt"/>
        <a:ea typeface="+mn-ea"/>
        <a:cs typeface="+mn-cs"/>
      </a:defRPr>
    </a:lvl1pPr>
    <a:lvl2pPr marL="286962" algn="l" defTabSz="286962" rtl="0" eaLnBrk="1" latinLnBrk="0" hangingPunct="1">
      <a:defRPr sz="800" kern="1200">
        <a:solidFill>
          <a:schemeClr val="tx1"/>
        </a:solidFill>
        <a:latin typeface="+mn-lt"/>
        <a:ea typeface="+mn-ea"/>
        <a:cs typeface="+mn-cs"/>
      </a:defRPr>
    </a:lvl2pPr>
    <a:lvl3pPr marL="573925" algn="l" defTabSz="286962" rtl="0" eaLnBrk="1" latinLnBrk="0" hangingPunct="1">
      <a:defRPr sz="800" kern="1200">
        <a:solidFill>
          <a:schemeClr val="tx1"/>
        </a:solidFill>
        <a:latin typeface="+mn-lt"/>
        <a:ea typeface="+mn-ea"/>
        <a:cs typeface="+mn-cs"/>
      </a:defRPr>
    </a:lvl3pPr>
    <a:lvl4pPr marL="860887" algn="l" defTabSz="286962" rtl="0" eaLnBrk="1" latinLnBrk="0" hangingPunct="1">
      <a:defRPr sz="800" kern="1200">
        <a:solidFill>
          <a:schemeClr val="tx1"/>
        </a:solidFill>
        <a:latin typeface="+mn-lt"/>
        <a:ea typeface="+mn-ea"/>
        <a:cs typeface="+mn-cs"/>
      </a:defRPr>
    </a:lvl4pPr>
    <a:lvl5pPr marL="1147851" algn="l" defTabSz="286962" rtl="0" eaLnBrk="1" latinLnBrk="0" hangingPunct="1">
      <a:defRPr sz="800" kern="1200">
        <a:solidFill>
          <a:schemeClr val="tx1"/>
        </a:solidFill>
        <a:latin typeface="+mn-lt"/>
        <a:ea typeface="+mn-ea"/>
        <a:cs typeface="+mn-cs"/>
      </a:defRPr>
    </a:lvl5pPr>
    <a:lvl6pPr marL="1434813" algn="l" defTabSz="286962" rtl="0" eaLnBrk="1" latinLnBrk="0" hangingPunct="1">
      <a:defRPr sz="800" kern="1200">
        <a:solidFill>
          <a:schemeClr val="tx1"/>
        </a:solidFill>
        <a:latin typeface="+mn-lt"/>
        <a:ea typeface="+mn-ea"/>
        <a:cs typeface="+mn-cs"/>
      </a:defRPr>
    </a:lvl6pPr>
    <a:lvl7pPr marL="1721776" algn="l" defTabSz="286962" rtl="0" eaLnBrk="1" latinLnBrk="0" hangingPunct="1">
      <a:defRPr sz="800" kern="1200">
        <a:solidFill>
          <a:schemeClr val="tx1"/>
        </a:solidFill>
        <a:latin typeface="+mn-lt"/>
        <a:ea typeface="+mn-ea"/>
        <a:cs typeface="+mn-cs"/>
      </a:defRPr>
    </a:lvl7pPr>
    <a:lvl8pPr marL="2008738" algn="l" defTabSz="286962" rtl="0" eaLnBrk="1" latinLnBrk="0" hangingPunct="1">
      <a:defRPr sz="800" kern="1200">
        <a:solidFill>
          <a:schemeClr val="tx1"/>
        </a:solidFill>
        <a:latin typeface="+mn-lt"/>
        <a:ea typeface="+mn-ea"/>
        <a:cs typeface="+mn-cs"/>
      </a:defRPr>
    </a:lvl8pPr>
    <a:lvl9pPr marL="2295702" algn="l" defTabSz="286962" rtl="0" eaLnBrk="1" latinLnBrk="0" hangingPunct="1">
      <a:defRPr sz="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“CEO Incentives and Acquisitions: Evidence from the Pay Ratio Disclosure Mandate”</a:t>
            </a:r>
          </a:p>
          <a:p>
            <a:endParaRPr lang="en-US" dirty="0"/>
          </a:p>
          <a:p>
            <a:r>
              <a:rPr lang="en-US" dirty="0"/>
              <a:t>CEO Incentives and Acquisitions could fit at least 10 other papers as well – way too generic</a:t>
            </a:r>
          </a:p>
          <a:p>
            <a:endParaRPr lang="en-US" dirty="0"/>
          </a:p>
          <a:p>
            <a:r>
              <a:rPr lang="en-US" dirty="0"/>
              <a:t>Titles are also expectation management. Given only the title, the paper could easily be about other incentives than pay (e.g. in the Coles/Daniel/Naveen Delta/Vega-Tradition but it is actually in the Jensen/Murphy flow-pay tradition).</a:t>
            </a:r>
          </a:p>
          <a:p>
            <a:endParaRPr lang="en-GB" dirty="0"/>
          </a:p>
        </p:txBody>
      </p:sp>
    </p:spTree>
    <p:extLst>
      <p:ext uri="{BB962C8B-B14F-4D97-AF65-F5344CB8AC3E}">
        <p14:creationId xmlns:p14="http://schemas.microsoft.com/office/powerpoint/2010/main" val="2205693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a:t>
            </a:r>
          </a:p>
          <a:p>
            <a:r>
              <a:rPr lang="en-US" dirty="0"/>
              <a:t>Results-only or results-first style makes the implicit assumption that the audience has already knowledge about managerial incentives and M&amp;As -&gt; leaving unnecessary text out makes the abstract more catchy</a:t>
            </a:r>
          </a:p>
          <a:p>
            <a:endParaRPr lang="en-US" dirty="0"/>
          </a:p>
          <a:p>
            <a:r>
              <a:rPr lang="en-US" dirty="0"/>
              <a:t>"The weakened pay-size link incentivized CEOs to screen large M&amp;A deals more carefully, as value-destroying large deals no longer increase  compensation.“ Compresses the causal framework / the main story into one sentence.</a:t>
            </a:r>
          </a:p>
          <a:p>
            <a:endParaRPr lang="en-US" dirty="0"/>
          </a:p>
          <a:p>
            <a:r>
              <a:rPr lang="en-US" dirty="0"/>
              <a:t>"Consequently, firms shifted M&amp;A strategies, pursuing fewer large but higher-quality deals and more small but lower-quality ones.“  They put 4 statements into one sentence and make it memorable by using a symmetric contrast.</a:t>
            </a:r>
          </a:p>
          <a:p>
            <a:endParaRPr lang="en-US" dirty="0"/>
          </a:p>
          <a:p>
            <a:r>
              <a:rPr lang="en-US" dirty="0"/>
              <a:t>--:</a:t>
            </a:r>
          </a:p>
          <a:p>
            <a:r>
              <a:rPr lang="en-US" dirty="0"/>
              <a:t>The “consistent with…” opening reads like a hedge to overclaiming the papers results. This makes the results look less important and is a boring start.</a:t>
            </a:r>
          </a:p>
          <a:p>
            <a:endParaRPr lang="en-US" dirty="0"/>
          </a:p>
          <a:p>
            <a:r>
              <a:rPr lang="en-US" dirty="0"/>
              <a:t>"Consistent with greater public scrutiny curbing CEO pay growth, the 2017 Pay Ratio Disclosure Mandate reduced the sensitivity of CEO pay to firm size and upside performance, while leaving downside pay-performance sensitivity unchanged.“ The first sentence contains more than 1/3 of the words of the whole abstract and several different claims. The sentence is too long and complicated to remember the whole content.</a:t>
            </a:r>
            <a:br>
              <a:rPr lang="en-US" dirty="0"/>
            </a:br>
            <a:endParaRPr lang="en-US" dirty="0"/>
          </a:p>
          <a:p>
            <a:endParaRPr lang="en-GB" dirty="0"/>
          </a:p>
        </p:txBody>
      </p:sp>
    </p:spTree>
    <p:extLst>
      <p:ext uri="{BB962C8B-B14F-4D97-AF65-F5344CB8AC3E}">
        <p14:creationId xmlns:p14="http://schemas.microsoft.com/office/powerpoint/2010/main" val="1119962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a:t>
            </a:r>
          </a:p>
          <a:p>
            <a:r>
              <a:rPr lang="en-US" dirty="0"/>
              <a:t>Results-only or results-first style makes the implicit assumption that the audience has already knowledge about managerial incentives and M&amp;As -&gt; leaving unnecessary text out makes the abstract more catchy</a:t>
            </a:r>
          </a:p>
          <a:p>
            <a:endParaRPr lang="en-US" dirty="0"/>
          </a:p>
          <a:p>
            <a:r>
              <a:rPr lang="en-US" dirty="0"/>
              <a:t>"The weakened pay-size link incentivized CEOs to screen large M&amp;A deals more carefully, as value-destroying large deals no longer increase  compensation.“ Compresses the causal framework / the main story into one sentence.</a:t>
            </a:r>
          </a:p>
          <a:p>
            <a:endParaRPr lang="en-US" dirty="0"/>
          </a:p>
          <a:p>
            <a:r>
              <a:rPr lang="en-US" dirty="0"/>
              <a:t>"Consequently, firms shifted M&amp;A strategies, pursuing fewer large but higher-quality deals and more small but lower-quality ones.“  They put 4 statements into one sentence and make it memorable by using a symmetric contrast.</a:t>
            </a:r>
          </a:p>
          <a:p>
            <a:endParaRPr lang="en-US" dirty="0"/>
          </a:p>
          <a:p>
            <a:r>
              <a:rPr lang="en-US" dirty="0"/>
              <a:t>--:</a:t>
            </a:r>
          </a:p>
          <a:p>
            <a:r>
              <a:rPr lang="en-US" dirty="0"/>
              <a:t>The “consistent with…” opening reads like a hedge to overclaiming the papers results. This makes the results look less important and is a boring start.</a:t>
            </a:r>
          </a:p>
          <a:p>
            <a:endParaRPr lang="en-US" dirty="0"/>
          </a:p>
          <a:p>
            <a:r>
              <a:rPr lang="en-US" dirty="0"/>
              <a:t>"Consistent with greater public scrutiny curbing CEO pay growth, the 2017 Pay Ratio Disclosure Mandate reduced the sensitivity of CEO pay to firm size and upside performance, while leaving downside pay-performance sensitivity unchanged.“ The first sentence contains more than 1/3 of the words of the whole abstract and several different claims. The sentence is too long and complicated to remember the whole content.</a:t>
            </a:r>
            <a:br>
              <a:rPr lang="en-US" dirty="0"/>
            </a:br>
            <a:endParaRPr lang="en-US" dirty="0"/>
          </a:p>
          <a:p>
            <a:endParaRPr lang="en-GB" dirty="0"/>
          </a:p>
        </p:txBody>
      </p:sp>
    </p:spTree>
    <p:extLst>
      <p:ext uri="{BB962C8B-B14F-4D97-AF65-F5344CB8AC3E}">
        <p14:creationId xmlns:p14="http://schemas.microsoft.com/office/powerpoint/2010/main" val="2103439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22A01-6E11-483C-D326-202CF93B14F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48D3FF1-AC1A-6919-DE75-39F6A634753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5BA15DD-FA1B-7D0B-A396-8944006808F0}"/>
              </a:ext>
            </a:extLst>
          </p:cNvPr>
          <p:cNvSpPr>
            <a:spLocks noGrp="1"/>
          </p:cNvSpPr>
          <p:nvPr>
            <p:ph type="body" idx="1"/>
          </p:nvPr>
        </p:nvSpPr>
        <p:spPr/>
        <p:txBody>
          <a:bodyPr/>
          <a:lstStyle/>
          <a:p>
            <a:r>
              <a:rPr lang="en-US" dirty="0"/>
              <a:t>Now let me show you something strange about the structure of this paper.</a:t>
            </a:r>
          </a:p>
          <a:p>
            <a:r>
              <a:rPr lang="en-US" dirty="0"/>
              <a:t>Please look at the slide. The paper has seven pages of text </a:t>
            </a:r>
            <a:r>
              <a:rPr lang="en-US" b="1" dirty="0"/>
              <a:t>before the first heading</a:t>
            </a:r>
            <a:r>
              <a:rPr lang="en-US" dirty="0"/>
              <a:t>. Seven pages with no name, no section number, no sub-titles. The reader opens the paper and reads seven pages without any map.</a:t>
            </a:r>
          </a:p>
          <a:p>
            <a:r>
              <a:rPr lang="en-US" dirty="0"/>
              <a:t>Then on page 8, the first heading finally appears. It says </a:t>
            </a:r>
            <a:r>
              <a:rPr lang="en-US" b="1" dirty="0"/>
              <a:t>"1. Institutional Background and Related Literature"</a:t>
            </a:r>
            <a:r>
              <a:rPr lang="en-US" dirty="0"/>
              <a:t>. With two sub-sections: 1.1 and 1.2.</a:t>
            </a:r>
          </a:p>
          <a:p>
            <a:r>
              <a:rPr lang="en-US" dirty="0"/>
              <a:t>So here is the question: what were those first seven pages? </a:t>
            </a:r>
            <a:r>
              <a:rPr lang="en-US" b="1" dirty="0"/>
              <a:t>They are the introduction</a:t>
            </a:r>
            <a:r>
              <a:rPr lang="en-US" dirty="0"/>
              <a:t>. But the author never calls it that. Section 1 is not the introduction. Section 1 is the background. The introduction is the unnamed seven pages </a:t>
            </a:r>
            <a:r>
              <a:rPr lang="en-US" b="1" dirty="0"/>
              <a:t>before</a:t>
            </a:r>
            <a:r>
              <a:rPr lang="en-US" dirty="0"/>
              <a:t> Section 1.</a:t>
            </a:r>
          </a:p>
          <a:p>
            <a:r>
              <a:rPr lang="en-US" dirty="0"/>
              <a:t>This is a writing problem. Section heading is the simplest tool a writer has. It tells the reader where they are. This paper gives no heading for its most important seven pages.</a:t>
            </a:r>
          </a:p>
          <a:p>
            <a:endParaRPr lang="en-GB" dirty="0"/>
          </a:p>
        </p:txBody>
      </p:sp>
    </p:spTree>
    <p:extLst>
      <p:ext uri="{BB962C8B-B14F-4D97-AF65-F5344CB8AC3E}">
        <p14:creationId xmlns:p14="http://schemas.microsoft.com/office/powerpoint/2010/main" val="1667394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29DBC-D70B-F6F5-8F25-F9F058A9DA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80ED690-E3E8-3D60-5479-D8330EBE97A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B310AB4-0688-2FDD-DC12-6CC2605C3192}"/>
              </a:ext>
            </a:extLst>
          </p:cNvPr>
          <p:cNvSpPr>
            <a:spLocks noGrp="1"/>
          </p:cNvSpPr>
          <p:nvPr>
            <p:ph type="body" idx="1"/>
          </p:nvPr>
        </p:nvSpPr>
        <p:spPr/>
        <p:txBody>
          <a:bodyPr/>
          <a:lstStyle/>
          <a:p>
            <a:pPr algn="l"/>
            <a:r>
              <a:rPr lang="en-US" b="0" i="0" dirty="0">
                <a:solidFill>
                  <a:srgbClr val="121212"/>
                </a:solidFill>
                <a:effectLst/>
                <a:latin typeface="Anthropic Serif"/>
              </a:rPr>
              <a:t>Now let me show you the first four paragraphs of this introduction.</a:t>
            </a:r>
          </a:p>
          <a:p>
            <a:pPr algn="l"/>
            <a:r>
              <a:rPr lang="en-US" b="0" i="0" dirty="0">
                <a:solidFill>
                  <a:srgbClr val="121212"/>
                </a:solidFill>
                <a:effectLst/>
                <a:latin typeface="Anthropic Serif"/>
              </a:rPr>
              <a:t>Please look at the slide. </a:t>
            </a:r>
            <a:r>
              <a:rPr lang="en-US" b="1" i="0" dirty="0">
                <a:solidFill>
                  <a:srgbClr val="121212"/>
                </a:solidFill>
                <a:effectLst/>
                <a:latin typeface="Anthropic Serif"/>
              </a:rPr>
              <a:t>P1 is a detour. P2 is a detour. P3 is a detour. P4 finally hits the topic.</a:t>
            </a:r>
            <a:endParaRPr lang="en-US" b="0" i="0" dirty="0">
              <a:solidFill>
                <a:srgbClr val="121212"/>
              </a:solidFill>
              <a:effectLst/>
              <a:latin typeface="Anthropic Serif"/>
            </a:endParaRPr>
          </a:p>
          <a:p>
            <a:pPr algn="l"/>
            <a:r>
              <a:rPr lang="en-US" b="0" i="0" dirty="0">
                <a:solidFill>
                  <a:srgbClr val="121212"/>
                </a:solidFill>
                <a:effectLst/>
                <a:latin typeface="Anthropic Serif"/>
              </a:rPr>
              <a:t>Let me walk you through.</a:t>
            </a:r>
          </a:p>
          <a:p>
            <a:pPr algn="l"/>
            <a:r>
              <a:rPr lang="en-US" b="1" i="0" dirty="0">
                <a:solidFill>
                  <a:srgbClr val="121212"/>
                </a:solidFill>
                <a:effectLst/>
                <a:latin typeface="Anthropic Serif"/>
              </a:rPr>
              <a:t>P1</a:t>
            </a:r>
            <a:r>
              <a:rPr lang="en-US" b="0" i="0" dirty="0">
                <a:solidFill>
                  <a:srgbClr val="121212"/>
                </a:solidFill>
                <a:effectLst/>
                <a:latin typeface="Anthropic Serif"/>
              </a:rPr>
              <a:t> opens with "While there is significant debate surrounding CEO compensation..." The author talks about a general debate, then says evidence is missing, then mentions the </a:t>
            </a:r>
            <a:r>
              <a:rPr lang="en-US" b="1" i="0" dirty="0">
                <a:solidFill>
                  <a:srgbClr val="121212"/>
                </a:solidFill>
                <a:effectLst/>
                <a:latin typeface="Anthropic Serif"/>
              </a:rPr>
              <a:t>endogeneity problem</a:t>
            </a:r>
            <a:r>
              <a:rPr lang="en-US" b="0" i="0" dirty="0">
                <a:solidFill>
                  <a:srgbClr val="121212"/>
                </a:solidFill>
                <a:effectLst/>
                <a:latin typeface="Anthropic Serif"/>
              </a:rPr>
              <a:t>. This is a detour. The reader does not need to know about endogeneity in the first paragraph. The reader needs to know what the paper does.</a:t>
            </a:r>
          </a:p>
          <a:p>
            <a:pPr algn="l"/>
            <a:r>
              <a:rPr lang="en-US" b="1" i="0" dirty="0">
                <a:solidFill>
                  <a:srgbClr val="121212"/>
                </a:solidFill>
                <a:effectLst/>
                <a:latin typeface="Anthropic Serif"/>
              </a:rPr>
              <a:t>P2</a:t>
            </a:r>
            <a:r>
              <a:rPr lang="en-US" b="0" i="0" dirty="0">
                <a:solidFill>
                  <a:srgbClr val="121212"/>
                </a:solidFill>
                <a:effectLst/>
                <a:latin typeface="Anthropic Serif"/>
              </a:rPr>
              <a:t> is another detour. The author goes to a survey by </a:t>
            </a:r>
            <a:r>
              <a:rPr lang="en-US" b="1" i="0" dirty="0">
                <a:solidFill>
                  <a:srgbClr val="121212"/>
                </a:solidFill>
                <a:effectLst/>
                <a:latin typeface="Anthropic Serif"/>
              </a:rPr>
              <a:t>Edmans, Gosling, and </a:t>
            </a:r>
            <a:r>
              <a:rPr lang="en-US" b="1" i="0" dirty="0" err="1">
                <a:solidFill>
                  <a:srgbClr val="121212"/>
                </a:solidFill>
                <a:effectLst/>
                <a:latin typeface="Anthropic Serif"/>
              </a:rPr>
              <a:t>Jenter</a:t>
            </a:r>
            <a:r>
              <a:rPr lang="en-US" b="0" i="0" dirty="0">
                <a:solidFill>
                  <a:srgbClr val="121212"/>
                </a:solidFill>
                <a:effectLst/>
                <a:latin typeface="Anthropic Serif"/>
              </a:rPr>
              <a:t>. The survey says financial incentives are less important than fairness. But wait — if financial incentives are less important, why is this paper studying financial incentives? The author never answers this question. The detour just sits there.</a:t>
            </a:r>
          </a:p>
          <a:p>
            <a:pPr algn="l"/>
            <a:r>
              <a:rPr lang="en-US" b="1" i="0" dirty="0">
                <a:solidFill>
                  <a:srgbClr val="121212"/>
                </a:solidFill>
                <a:effectLst/>
                <a:latin typeface="Anthropic Serif"/>
              </a:rPr>
              <a:t>P3</a:t>
            </a:r>
            <a:r>
              <a:rPr lang="en-US" b="0" i="0" dirty="0">
                <a:solidFill>
                  <a:srgbClr val="121212"/>
                </a:solidFill>
                <a:effectLst/>
                <a:latin typeface="Anthropic Serif"/>
              </a:rPr>
              <a:t> is a third detour. The author goes to </a:t>
            </a:r>
            <a:r>
              <a:rPr lang="en-US" b="1" i="0" dirty="0">
                <a:solidFill>
                  <a:srgbClr val="121212"/>
                </a:solidFill>
                <a:effectLst/>
                <a:latin typeface="Anthropic Serif"/>
              </a:rPr>
              <a:t>Say-on-Pay</a:t>
            </a:r>
            <a:r>
              <a:rPr lang="en-US" b="0" i="0" dirty="0">
                <a:solidFill>
                  <a:srgbClr val="121212"/>
                </a:solidFill>
                <a:effectLst/>
                <a:latin typeface="Anthropic Serif"/>
              </a:rPr>
              <a:t> and a paper by </a:t>
            </a:r>
            <a:r>
              <a:rPr lang="en-US" b="0" i="0" dirty="0" err="1">
                <a:solidFill>
                  <a:srgbClr val="121212"/>
                </a:solidFill>
                <a:effectLst/>
                <a:latin typeface="Anthropic Serif"/>
              </a:rPr>
              <a:t>Cuñat</a:t>
            </a:r>
            <a:r>
              <a:rPr lang="en-US" b="0" i="0" dirty="0">
                <a:solidFill>
                  <a:srgbClr val="121212"/>
                </a:solidFill>
                <a:effectLst/>
                <a:latin typeface="Anthropic Serif"/>
              </a:rPr>
              <a:t>, </a:t>
            </a:r>
            <a:r>
              <a:rPr lang="en-US" b="0" i="0" dirty="0" err="1">
                <a:solidFill>
                  <a:srgbClr val="121212"/>
                </a:solidFill>
                <a:effectLst/>
                <a:latin typeface="Anthropic Serif"/>
              </a:rPr>
              <a:t>Giné</a:t>
            </a:r>
            <a:r>
              <a:rPr lang="en-US" b="0" i="0" dirty="0">
                <a:solidFill>
                  <a:srgbClr val="121212"/>
                </a:solidFill>
                <a:effectLst/>
                <a:latin typeface="Anthropic Serif"/>
              </a:rPr>
              <a:t>, and Guadalupe. </a:t>
            </a:r>
            <a:r>
              <a:rPr lang="en-US" b="0" i="0" dirty="0" err="1">
                <a:solidFill>
                  <a:srgbClr val="121212"/>
                </a:solidFill>
                <a:effectLst/>
                <a:latin typeface="Anthropic Serif"/>
              </a:rPr>
              <a:t>SoP</a:t>
            </a:r>
            <a:r>
              <a:rPr lang="en-US" b="0" i="0" dirty="0">
                <a:solidFill>
                  <a:srgbClr val="121212"/>
                </a:solidFill>
                <a:effectLst/>
                <a:latin typeface="Anthropic Serif"/>
              </a:rPr>
              <a:t> is a different policy, not the policy this paper studies. Why is this here? The reader does not know.</a:t>
            </a:r>
          </a:p>
          <a:p>
            <a:pPr algn="l"/>
            <a:r>
              <a:rPr lang="en-US" b="0" i="0" dirty="0">
                <a:solidFill>
                  <a:srgbClr val="121212"/>
                </a:solidFill>
                <a:effectLst/>
                <a:latin typeface="Anthropic Serif"/>
              </a:rPr>
              <a:t>Finally, in </a:t>
            </a:r>
            <a:r>
              <a:rPr lang="en-US" b="1" i="0" dirty="0">
                <a:solidFill>
                  <a:srgbClr val="121212"/>
                </a:solidFill>
                <a:effectLst/>
                <a:latin typeface="Anthropic Serif"/>
              </a:rPr>
              <a:t>P4</a:t>
            </a:r>
            <a:r>
              <a:rPr lang="en-US" b="0" i="0" dirty="0">
                <a:solidFill>
                  <a:srgbClr val="121212"/>
                </a:solidFill>
                <a:effectLst/>
                <a:latin typeface="Anthropic Serif"/>
              </a:rPr>
              <a:t>, the author writes: </a:t>
            </a:r>
            <a:r>
              <a:rPr lang="en-US" b="0" i="1" dirty="0">
                <a:solidFill>
                  <a:srgbClr val="121212"/>
                </a:solidFill>
                <a:effectLst/>
                <a:latin typeface="Anthropic Serif"/>
              </a:rPr>
              <a:t>"In this paper, we examine..."</a:t>
            </a:r>
            <a:r>
              <a:rPr lang="en-US" b="0" i="0" dirty="0">
                <a:solidFill>
                  <a:srgbClr val="121212"/>
                </a:solidFill>
                <a:effectLst/>
                <a:latin typeface="Anthropic Serif"/>
              </a:rPr>
              <a:t> This is the punchline. This is what the reader has been waiting for. But the reader had to walk through three detours to get here.</a:t>
            </a:r>
          </a:p>
          <a:p>
            <a:pPr algn="l"/>
            <a:r>
              <a:rPr lang="en-US" b="0" i="0" dirty="0">
                <a:solidFill>
                  <a:srgbClr val="121212"/>
                </a:solidFill>
                <a:effectLst/>
                <a:latin typeface="Anthropic Serif"/>
              </a:rPr>
              <a:t>Three detours before the topic. Three pages before the reader knows what the paper does. That is a writing problem.</a:t>
            </a:r>
          </a:p>
          <a:p>
            <a:pPr algn="l"/>
            <a:r>
              <a:rPr lang="en-US" b="0" i="0" dirty="0">
                <a:solidFill>
                  <a:srgbClr val="121212"/>
                </a:solidFill>
                <a:effectLst/>
                <a:latin typeface="Anthropic Serif"/>
              </a:rPr>
              <a:t>A good introduction tells the reader the topic in P1, not P4. Detours can come later, as part of the literature review. Putting them upfront makes the reader </a:t>
            </a:r>
            <a:r>
              <a:rPr lang="en-US" b="1" i="0" dirty="0">
                <a:solidFill>
                  <a:srgbClr val="121212"/>
                </a:solidFill>
                <a:effectLst/>
                <a:latin typeface="Anthropic Serif"/>
              </a:rPr>
              <a:t>lost and impatient</a:t>
            </a:r>
            <a:r>
              <a:rPr lang="en-US" b="0" i="0" dirty="0">
                <a:solidFill>
                  <a:srgbClr val="121212"/>
                </a:solidFill>
                <a:effectLst/>
                <a:latin typeface="Anthropic Serif"/>
              </a:rPr>
              <a:t>.</a:t>
            </a:r>
          </a:p>
        </p:txBody>
      </p:sp>
    </p:spTree>
    <p:extLst>
      <p:ext uri="{BB962C8B-B14F-4D97-AF65-F5344CB8AC3E}">
        <p14:creationId xmlns:p14="http://schemas.microsoft.com/office/powerpoint/2010/main" val="1824034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effectLst/>
                <a:latin typeface="Helvetica Neue" panose="02000503000000020004" pitchFamily="2" charset="0"/>
              </a:rPr>
              <a:t>"Now, I would like to talk about the background of this policy. Before we analyze the writing, we must understand the timeline, which is actually full of potential problems.</a:t>
            </a:r>
          </a:p>
          <a:p>
            <a:br>
              <a:rPr lang="en-US" dirty="0">
                <a:effectLst/>
                <a:latin typeface="Helvetica Neue" panose="02000503000000020004" pitchFamily="2" charset="0"/>
              </a:rPr>
            </a:br>
            <a:endParaRPr lang="en-US" dirty="0">
              <a:effectLst/>
              <a:latin typeface="Helvetica Neue" panose="02000503000000020004" pitchFamily="2" charset="0"/>
            </a:endParaRPr>
          </a:p>
          <a:p>
            <a:r>
              <a:rPr lang="en-US" dirty="0">
                <a:effectLst/>
                <a:latin typeface="Helvetica Neue" panose="02000503000000020004" pitchFamily="2" charset="0"/>
              </a:rPr>
              <a:t>Please look at this figure. It shows several key events from 2010 to 2020.</a:t>
            </a:r>
          </a:p>
          <a:p>
            <a:br>
              <a:rPr lang="en-US" dirty="0">
                <a:effectLst/>
                <a:latin typeface="Helvetica Neue" panose="02000503000000020004" pitchFamily="2" charset="0"/>
              </a:rPr>
            </a:br>
            <a:endParaRPr lang="en-US" dirty="0">
              <a:effectLst/>
              <a:latin typeface="Helvetica Neue" panose="02000503000000020004" pitchFamily="2" charset="0"/>
            </a:endParaRPr>
          </a:p>
          <a:p>
            <a:pPr>
              <a:buFont typeface="Arial" panose="020B0604020202020204" pitchFamily="34" charset="0"/>
              <a:buChar char="•"/>
            </a:pPr>
            <a:r>
              <a:rPr lang="en-US" dirty="0">
                <a:effectLst/>
                <a:latin typeface="Helvetica Neue" panose="02000503000000020004" pitchFamily="2" charset="0"/>
              </a:rPr>
              <a:t>In 2010, the U.S. Congress passed the </a:t>
            </a:r>
            <a:r>
              <a:rPr lang="en-US" b="1" dirty="0">
                <a:effectLst/>
                <a:latin typeface="Helvetica Neue" panose="02000503000000020004" pitchFamily="2" charset="0"/>
              </a:rPr>
              <a:t>Dodd-Frank Act</a:t>
            </a:r>
            <a:r>
              <a:rPr lang="en-US" dirty="0">
                <a:effectLst/>
                <a:latin typeface="Helvetica Neue" panose="02000503000000020004" pitchFamily="2" charset="0"/>
              </a:rPr>
              <a:t>, and Section 953(b) required companies to show the pay ratio between the CEO and workers. </a:t>
            </a:r>
            <a:br>
              <a:rPr lang="en-US" dirty="0">
                <a:effectLst/>
                <a:latin typeface="Helvetica Neue" panose="02000503000000020004" pitchFamily="2" charset="0"/>
              </a:rPr>
            </a:br>
            <a:endParaRPr lang="en-US" dirty="0">
              <a:effectLst/>
              <a:latin typeface="Helvetica Neue" panose="02000503000000020004" pitchFamily="2" charset="0"/>
            </a:endParaRPr>
          </a:p>
          <a:p>
            <a:pPr>
              <a:buFont typeface="Arial" panose="020B0604020202020204" pitchFamily="34" charset="0"/>
              <a:buChar char="•"/>
            </a:pPr>
            <a:r>
              <a:rPr lang="en-US" dirty="0">
                <a:effectLst/>
                <a:latin typeface="Helvetica Neue" panose="02000503000000020004" pitchFamily="2" charset="0"/>
              </a:rPr>
              <a:t>However, the SEC was very slow. It took five years to adopt the final rules in 2015, and they only became effective in 2017. </a:t>
            </a:r>
            <a:br>
              <a:rPr lang="en-US" dirty="0">
                <a:effectLst/>
                <a:latin typeface="Helvetica Neue" panose="02000503000000020004" pitchFamily="2" charset="0"/>
              </a:rPr>
            </a:br>
            <a:endParaRPr lang="en-US" dirty="0">
              <a:effectLst/>
              <a:latin typeface="Helvetica Neue" panose="02000503000000020004" pitchFamily="2" charset="0"/>
            </a:endParaRPr>
          </a:p>
          <a:p>
            <a:pPr>
              <a:buFont typeface="Arial" panose="020B0604020202020204" pitchFamily="34" charset="0"/>
              <a:buChar char="•"/>
            </a:pPr>
            <a:r>
              <a:rPr lang="en-US" dirty="0">
                <a:effectLst/>
                <a:latin typeface="Helvetica Neue" panose="02000503000000020004" pitchFamily="2" charset="0"/>
              </a:rPr>
              <a:t>The first disclosure happened in 2018. This is why the authors chose 2018 as the start of their 'Post-period'. </a:t>
            </a:r>
            <a:br>
              <a:rPr lang="en-US" dirty="0">
                <a:effectLst/>
                <a:latin typeface="Helvetica Neue" panose="02000503000000020004" pitchFamily="2" charset="0"/>
              </a:rPr>
            </a:br>
            <a:endParaRPr lang="en-US" dirty="0">
              <a:effectLst/>
              <a:latin typeface="Helvetica Neue" panose="02000503000000020004" pitchFamily="2" charset="0"/>
            </a:endParaRPr>
          </a:p>
          <a:p>
            <a:r>
              <a:rPr lang="en-US" b="1" dirty="0">
                <a:effectLst/>
                <a:latin typeface="Helvetica Neue" panose="02000503000000020004" pitchFamily="2" charset="0"/>
              </a:rPr>
              <a:t>However, there are two major 'landmines' here:</a:t>
            </a:r>
            <a:endParaRPr lang="en-US" dirty="0">
              <a:effectLst/>
              <a:latin typeface="Helvetica Neue" panose="02000503000000020004" pitchFamily="2" charset="0"/>
            </a:endParaRPr>
          </a:p>
          <a:p>
            <a:pPr>
              <a:buFont typeface="+mj-lt"/>
              <a:buAutoNum type="arabicPeriod"/>
            </a:pPr>
            <a:br>
              <a:rPr lang="en-US" dirty="0">
                <a:effectLst/>
                <a:latin typeface="Helvetica Neue" panose="02000503000000020004" pitchFamily="2" charset="0"/>
              </a:rPr>
            </a:br>
            <a:r>
              <a:rPr lang="en-US" b="1" dirty="0">
                <a:effectLst/>
                <a:latin typeface="Helvetica Neue" panose="02000503000000020004" pitchFamily="2" charset="0"/>
              </a:rPr>
              <a:t>Anticipation Effect:</a:t>
            </a:r>
            <a:r>
              <a:rPr lang="en-US" dirty="0">
                <a:effectLst/>
                <a:latin typeface="Helvetica Neue" panose="02000503000000020004" pitchFamily="2" charset="0"/>
              </a:rPr>
              <a:t> There was a 7-year gap between the law passing and it becoming effective. This means companies had plenty of time to change their CEO pay </a:t>
            </a:r>
            <a:r>
              <a:rPr lang="en-US" i="1" dirty="0">
                <a:effectLst/>
                <a:latin typeface="Helvetica Neue" panose="02000503000000020004" pitchFamily="2" charset="0"/>
              </a:rPr>
              <a:t>before</a:t>
            </a:r>
            <a:r>
              <a:rPr lang="en-US" dirty="0">
                <a:effectLst/>
                <a:latin typeface="Helvetica Neue" panose="02000503000000020004" pitchFamily="2" charset="0"/>
              </a:rPr>
              <a:t> 2017. Therefore, the 'Pre-period' might not be a 'clean control' group. </a:t>
            </a:r>
            <a:br>
              <a:rPr lang="en-US" dirty="0">
                <a:effectLst/>
                <a:latin typeface="Helvetica Neue" panose="02000503000000020004" pitchFamily="2" charset="0"/>
              </a:rPr>
            </a:br>
            <a:endParaRPr lang="en-US" dirty="0">
              <a:effectLst/>
              <a:latin typeface="Helvetica Neue" panose="02000503000000020004" pitchFamily="2" charset="0"/>
            </a:endParaRPr>
          </a:p>
          <a:p>
            <a:pPr>
              <a:buFont typeface="+mj-lt"/>
              <a:buAutoNum type="arabicPeriod"/>
            </a:pPr>
            <a:br>
              <a:rPr lang="en-US" dirty="0">
                <a:effectLst/>
                <a:latin typeface="Helvetica Neue" panose="02000503000000020004" pitchFamily="2" charset="0"/>
              </a:rPr>
            </a:br>
            <a:r>
              <a:rPr lang="en-US" b="1" dirty="0">
                <a:effectLst/>
                <a:latin typeface="Helvetica Neue" panose="02000503000000020004" pitchFamily="2" charset="0"/>
              </a:rPr>
              <a:t>COVID-19:</a:t>
            </a:r>
            <a:r>
              <a:rPr lang="en-US" dirty="0">
                <a:effectLst/>
                <a:latin typeface="Helvetica Neue" panose="02000503000000020004" pitchFamily="2" charset="0"/>
              </a:rPr>
              <a:t> The pandemic started in 2020 and it significantly reduced CEO pay across all industries. This event covers 60% of the authors' post-period. Surprisingly, the paper only mentions this in a small footnote on page 3 and does not discuss its impact in detail. </a:t>
            </a:r>
            <a:br>
              <a:rPr lang="en-US" dirty="0">
                <a:effectLst/>
                <a:latin typeface="Helvetica Neue" panose="02000503000000020004" pitchFamily="2" charset="0"/>
              </a:rPr>
            </a:br>
            <a:endParaRPr lang="en-US" dirty="0">
              <a:effectLst/>
              <a:latin typeface="Helvetica Neue" panose="02000503000000020004" pitchFamily="2" charset="0"/>
            </a:endParaRPr>
          </a:p>
          <a:p>
            <a:r>
              <a:rPr lang="en-US" dirty="0">
                <a:effectLst/>
                <a:latin typeface="Helvetica Neue" panose="02000503000000020004" pitchFamily="2" charset="0"/>
              </a:rPr>
              <a:t>This suggests that the authors might be ignoring external factors that could change their results."</a:t>
            </a:r>
          </a:p>
        </p:txBody>
      </p:sp>
    </p:spTree>
    <p:extLst>
      <p:ext uri="{BB962C8B-B14F-4D97-AF65-F5344CB8AC3E}">
        <p14:creationId xmlns:p14="http://schemas.microsoft.com/office/powerpoint/2010/main" val="2967059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effectLst/>
                <a:latin typeface="Helvetica Neue" panose="02000503000000020004" pitchFamily="2" charset="0"/>
              </a:rPr>
              <a:t>"Next, let’s look at the data section.</a:t>
            </a:r>
          </a:p>
          <a:p>
            <a:br>
              <a:rPr lang="en-US" dirty="0">
                <a:effectLst/>
                <a:latin typeface="Helvetica Neue" panose="02000503000000020004" pitchFamily="2" charset="0"/>
              </a:rPr>
            </a:br>
            <a:endParaRPr lang="en-US" dirty="0">
              <a:effectLst/>
              <a:latin typeface="Helvetica Neue" panose="02000503000000020004" pitchFamily="2" charset="0"/>
            </a:endParaRPr>
          </a:p>
          <a:p>
            <a:r>
              <a:rPr lang="en-US" dirty="0">
                <a:effectLst/>
                <a:latin typeface="Helvetica Neue" panose="02000503000000020004" pitchFamily="2" charset="0"/>
              </a:rPr>
              <a:t>Please look at the bottom part of this figure. It compares the data available in the market with the data used in this paper.</a:t>
            </a:r>
          </a:p>
          <a:p>
            <a:pPr>
              <a:buFont typeface="Arial" panose="020B0604020202020204" pitchFamily="34" charset="0"/>
              <a:buChar char="•"/>
            </a:pPr>
            <a:r>
              <a:rPr lang="en-US" dirty="0">
                <a:effectLst/>
                <a:latin typeface="Helvetica Neue" panose="02000503000000020004" pitchFamily="2" charset="0"/>
              </a:rPr>
              <a:t>The green bar shows that the main databases, </a:t>
            </a:r>
            <a:r>
              <a:rPr lang="en-US" b="1" dirty="0" err="1">
                <a:effectLst/>
                <a:latin typeface="Helvetica Neue" panose="02000503000000020004" pitchFamily="2" charset="0"/>
              </a:rPr>
              <a:t>ExecuComp</a:t>
            </a:r>
            <a:r>
              <a:rPr lang="en-US" b="1" dirty="0">
                <a:effectLst/>
                <a:latin typeface="Helvetica Neue" panose="02000503000000020004" pitchFamily="2" charset="0"/>
              </a:rPr>
              <a:t> and SDC</a:t>
            </a:r>
            <a:r>
              <a:rPr lang="en-US" dirty="0">
                <a:effectLst/>
                <a:latin typeface="Helvetica Neue" panose="02000503000000020004" pitchFamily="2" charset="0"/>
              </a:rPr>
              <a:t>, are updated until 2024. </a:t>
            </a:r>
            <a:br>
              <a:rPr lang="en-US" dirty="0">
                <a:effectLst/>
                <a:latin typeface="Helvetica Neue" panose="02000503000000020004" pitchFamily="2" charset="0"/>
              </a:rPr>
            </a:br>
            <a:endParaRPr lang="en-US" dirty="0">
              <a:effectLst/>
              <a:latin typeface="Helvetica Neue" panose="02000503000000020004" pitchFamily="2" charset="0"/>
            </a:endParaRPr>
          </a:p>
          <a:p>
            <a:pPr>
              <a:buFont typeface="Arial" panose="020B0604020202020204" pitchFamily="34" charset="0"/>
              <a:buChar char="•"/>
            </a:pPr>
            <a:r>
              <a:rPr lang="en-US" dirty="0">
                <a:effectLst/>
                <a:latin typeface="Helvetica Neue" panose="02000503000000020004" pitchFamily="2" charset="0"/>
              </a:rPr>
              <a:t>But look at the grey bar. The authors only used a sample from 2012 to 2022. </a:t>
            </a:r>
            <a:br>
              <a:rPr lang="en-US" dirty="0">
                <a:effectLst/>
                <a:latin typeface="Helvetica Neue" panose="02000503000000020004" pitchFamily="2" charset="0"/>
              </a:rPr>
            </a:br>
            <a:endParaRPr lang="en-US" dirty="0">
              <a:effectLst/>
              <a:latin typeface="Helvetica Neue" panose="02000503000000020004" pitchFamily="2" charset="0"/>
            </a:endParaRPr>
          </a:p>
          <a:p>
            <a:pPr>
              <a:buFont typeface="Arial" panose="020B0604020202020204" pitchFamily="34" charset="0"/>
              <a:buChar char="•"/>
            </a:pPr>
            <a:r>
              <a:rPr lang="en-US" dirty="0">
                <a:effectLst/>
                <a:latin typeface="Helvetica Neue" panose="02000503000000020004" pitchFamily="2" charset="0"/>
              </a:rPr>
              <a:t>This means there is a </a:t>
            </a:r>
            <a:r>
              <a:rPr lang="en-US" b="1" dirty="0">
                <a:effectLst/>
                <a:latin typeface="Helvetica Neue" panose="02000503000000020004" pitchFamily="2" charset="0"/>
              </a:rPr>
              <a:t>two-year gap</a:t>
            </a:r>
            <a:r>
              <a:rPr lang="en-US" dirty="0">
                <a:effectLst/>
                <a:latin typeface="Helvetica Neue" panose="02000503000000020004" pitchFamily="2" charset="0"/>
              </a:rPr>
              <a:t> (2023 and 2024) that is completely missing from the study. </a:t>
            </a:r>
            <a:br>
              <a:rPr lang="en-US" dirty="0">
                <a:effectLst/>
                <a:latin typeface="Helvetica Neue" panose="02000503000000020004" pitchFamily="2" charset="0"/>
              </a:rPr>
            </a:br>
            <a:endParaRPr lang="en-US" dirty="0">
              <a:effectLst/>
              <a:latin typeface="Helvetica Neue" panose="02000503000000020004" pitchFamily="2" charset="0"/>
            </a:endParaRPr>
          </a:p>
          <a:p>
            <a:r>
              <a:rPr lang="en-US" b="1" dirty="0">
                <a:effectLst/>
                <a:latin typeface="Helvetica Neue" panose="02000503000000020004" pitchFamily="2" charset="0"/>
              </a:rPr>
              <a:t>Why is this a writing problem?</a:t>
            </a:r>
            <a:r>
              <a:rPr lang="en-US" dirty="0">
                <a:effectLst/>
                <a:latin typeface="Helvetica Neue" panose="02000503000000020004" pitchFamily="2" charset="0"/>
              </a:rPr>
              <a:t> The paper is dated </a:t>
            </a:r>
            <a:r>
              <a:rPr lang="en-US" b="1" dirty="0">
                <a:effectLst/>
                <a:latin typeface="Helvetica Neue" panose="02000503000000020004" pitchFamily="2" charset="0"/>
              </a:rPr>
              <a:t>October 2025</a:t>
            </a:r>
            <a:r>
              <a:rPr lang="en-US" dirty="0">
                <a:effectLst/>
                <a:latin typeface="Helvetica Neue" panose="02000503000000020004" pitchFamily="2" charset="0"/>
              </a:rPr>
              <a:t>. This means when the authors were finishing the paper, the data for 2023 and 2024 was already available.</a:t>
            </a:r>
          </a:p>
          <a:p>
            <a:br>
              <a:rPr lang="en-US" dirty="0">
                <a:effectLst/>
                <a:latin typeface="Helvetica Neue" panose="02000503000000020004" pitchFamily="2" charset="0"/>
              </a:rPr>
            </a:br>
            <a:endParaRPr lang="en-US" dirty="0">
              <a:effectLst/>
              <a:latin typeface="Helvetica Neue" panose="02000503000000020004" pitchFamily="2" charset="0"/>
            </a:endParaRPr>
          </a:p>
          <a:p>
            <a:r>
              <a:rPr lang="en-US" dirty="0">
                <a:effectLst/>
                <a:latin typeface="Helvetica Neue" panose="02000503000000020004" pitchFamily="2" charset="0"/>
              </a:rPr>
              <a:t>As a reader, I have to ask:</a:t>
            </a:r>
          </a:p>
          <a:p>
            <a:pPr>
              <a:buFont typeface="Arial" panose="020B0604020202020204" pitchFamily="34" charset="0"/>
              <a:buChar char="•"/>
            </a:pPr>
            <a:r>
              <a:rPr lang="en-US" dirty="0">
                <a:effectLst/>
                <a:latin typeface="Helvetica Neue" panose="02000503000000020004" pitchFamily="2" charset="0"/>
              </a:rPr>
              <a:t>Why did they stop at 2022? </a:t>
            </a:r>
            <a:br>
              <a:rPr lang="en-US" dirty="0">
                <a:effectLst/>
                <a:latin typeface="Helvetica Neue" panose="02000503000000020004" pitchFamily="2" charset="0"/>
              </a:rPr>
            </a:br>
            <a:endParaRPr lang="en-US" dirty="0">
              <a:effectLst/>
              <a:latin typeface="Helvetica Neue" panose="02000503000000020004" pitchFamily="2" charset="0"/>
            </a:endParaRPr>
          </a:p>
          <a:p>
            <a:pPr>
              <a:buFont typeface="Arial" panose="020B0604020202020204" pitchFamily="34" charset="0"/>
              <a:buChar char="•"/>
            </a:pPr>
            <a:r>
              <a:rPr lang="en-US" dirty="0">
                <a:effectLst/>
                <a:latin typeface="Helvetica Neue" panose="02000503000000020004" pitchFamily="2" charset="0"/>
              </a:rPr>
              <a:t>Did the results from the later years not support their story? </a:t>
            </a:r>
            <a:br>
              <a:rPr lang="en-US" dirty="0">
                <a:effectLst/>
                <a:latin typeface="Helvetica Neue" panose="02000503000000020004" pitchFamily="2" charset="0"/>
              </a:rPr>
            </a:br>
            <a:endParaRPr lang="en-US" dirty="0">
              <a:effectLst/>
              <a:latin typeface="Helvetica Neue" panose="02000503000000020004" pitchFamily="2" charset="0"/>
            </a:endParaRPr>
          </a:p>
          <a:p>
            <a:r>
              <a:rPr lang="en-US" dirty="0">
                <a:effectLst/>
                <a:latin typeface="Helvetica Neue" panose="02000503000000020004" pitchFamily="2" charset="0"/>
              </a:rPr>
              <a:t>The authors did not provide any explanation for this choice in the text. In good academic writing, you should address the reader's concerns. By remaining silent, the authors leave a gap in their logic and make the reader doubt the reliability of their findings."</a:t>
            </a:r>
          </a:p>
          <a:p>
            <a:endParaRPr lang="en-GB" dirty="0"/>
          </a:p>
        </p:txBody>
      </p:sp>
    </p:spTree>
    <p:extLst>
      <p:ext uri="{BB962C8B-B14F-4D97-AF65-F5344CB8AC3E}">
        <p14:creationId xmlns:p14="http://schemas.microsoft.com/office/powerpoint/2010/main" val="790416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sp>
        <p:nvSpPr>
          <p:cNvPr id="81" name="object 2"/>
          <p:cNvSpPr/>
          <p:nvPr userDrawn="1"/>
        </p:nvSpPr>
        <p:spPr>
          <a:xfrm>
            <a:off x="0" y="4781848"/>
            <a:ext cx="9144000" cy="361652"/>
          </a:xfrm>
          <a:custGeom>
            <a:avLst/>
            <a:gdLst/>
            <a:ahLst/>
            <a:cxnLst/>
            <a:rect l="l" t="t" r="r" b="b"/>
            <a:pathLst>
              <a:path w="13004800" h="6896100">
                <a:moveTo>
                  <a:pt x="0" y="6896100"/>
                </a:moveTo>
                <a:lnTo>
                  <a:pt x="13004800" y="6896100"/>
                </a:lnTo>
                <a:lnTo>
                  <a:pt x="13004800" y="0"/>
                </a:lnTo>
                <a:lnTo>
                  <a:pt x="0" y="0"/>
                </a:lnTo>
                <a:lnTo>
                  <a:pt x="0" y="6896100"/>
                </a:lnTo>
                <a:close/>
              </a:path>
            </a:pathLst>
          </a:custGeom>
          <a:solidFill>
            <a:schemeClr val="bg1">
              <a:lumMod val="95000"/>
            </a:schemeClr>
          </a:solidFill>
        </p:spPr>
        <p:txBody>
          <a:bodyPr wrap="square" lIns="0" tIns="0" rIns="0" bIns="0" rtlCol="0"/>
          <a:lstStyle/>
          <a:p>
            <a:endParaRPr sz="1100" dirty="0">
              <a:solidFill>
                <a:schemeClr val="bg1">
                  <a:lumMod val="85000"/>
                </a:schemeClr>
              </a:solidFill>
            </a:endParaRPr>
          </a:p>
        </p:txBody>
      </p:sp>
      <p:sp>
        <p:nvSpPr>
          <p:cNvPr id="8" name="Holder 4"/>
          <p:cNvSpPr>
            <a:spLocks noGrp="1"/>
          </p:cNvSpPr>
          <p:nvPr>
            <p:ph type="ftr" sz="quarter" idx="3"/>
          </p:nvPr>
        </p:nvSpPr>
        <p:spPr>
          <a:xfrm>
            <a:off x="1732360" y="4877217"/>
            <a:ext cx="6054328" cy="145733"/>
          </a:xfrm>
          <a:prstGeom prst="rect">
            <a:avLst/>
          </a:prstGeom>
        </p:spPr>
        <p:txBody>
          <a:bodyPr lIns="0" tIns="0" rIns="0" bIns="0"/>
          <a:lstStyle>
            <a:lvl1pPr algn="ctr">
              <a:defRPr sz="900">
                <a:solidFill>
                  <a:schemeClr val="tx2">
                    <a:lumMod val="75000"/>
                  </a:schemeClr>
                </a:solidFill>
              </a:defRPr>
            </a:lvl1pPr>
          </a:lstStyle>
          <a:p>
            <a:r>
              <a:rPr lang="de-DE" dirty="0"/>
              <a:t>Georg-August-Universität Göttingen</a:t>
            </a:r>
          </a:p>
        </p:txBody>
      </p:sp>
      <p:sp>
        <p:nvSpPr>
          <p:cNvPr id="9" name="Holder 5"/>
          <p:cNvSpPr>
            <a:spLocks noGrp="1"/>
          </p:cNvSpPr>
          <p:nvPr>
            <p:ph type="dt" sz="half" idx="2"/>
          </p:nvPr>
        </p:nvSpPr>
        <p:spPr>
          <a:xfrm>
            <a:off x="218599" y="4875610"/>
            <a:ext cx="1031558" cy="147340"/>
          </a:xfrm>
          <a:prstGeom prst="rect">
            <a:avLst/>
          </a:prstGeom>
        </p:spPr>
        <p:txBody>
          <a:bodyPr lIns="0" tIns="0" rIns="0" bIns="0"/>
          <a:lstStyle>
            <a:lvl1pPr algn="l">
              <a:defRPr sz="900">
                <a:solidFill>
                  <a:schemeClr val="tx1">
                    <a:tint val="75000"/>
                  </a:schemeClr>
                </a:solidFill>
              </a:defRPr>
            </a:lvl1pPr>
          </a:lstStyle>
          <a:p>
            <a:fld id="{C5DFC1A0-EAC7-FF46-B484-6832FF4081D7}" type="datetime1">
              <a:rPr lang="de-DE" smtClean="0"/>
              <a:pPr/>
              <a:t>12.05.26</a:t>
            </a:fld>
            <a:endParaRPr lang="en-US" dirty="0"/>
          </a:p>
        </p:txBody>
      </p:sp>
      <p:sp>
        <p:nvSpPr>
          <p:cNvPr id="10" name="Holder 6"/>
          <p:cNvSpPr>
            <a:spLocks noGrp="1"/>
          </p:cNvSpPr>
          <p:nvPr>
            <p:ph type="sldNum" sz="quarter" idx="10"/>
          </p:nvPr>
        </p:nvSpPr>
        <p:spPr>
          <a:xfrm>
            <a:off x="8322472" y="4894526"/>
            <a:ext cx="602933" cy="128425"/>
          </a:xfrm>
          <a:prstGeom prst="rect">
            <a:avLst/>
          </a:prstGeom>
        </p:spPr>
        <p:txBody>
          <a:bodyPr lIns="0" tIns="0" rIns="0" bIns="0"/>
          <a:lstStyle>
            <a:lvl1pPr algn="r">
              <a:defRPr sz="900">
                <a:solidFill>
                  <a:schemeClr val="tx1">
                    <a:tint val="75000"/>
                  </a:schemeClr>
                </a:solidFill>
              </a:defRPr>
            </a:lvl1pPr>
          </a:lstStyle>
          <a:p>
            <a:fld id="{B6F15528-21DE-4FAA-801E-634DDDAF4B2B}" type="slidenum">
              <a:rPr lang="de-DE" smtClean="0"/>
              <a:pPr/>
              <a:t>‹#›</a:t>
            </a:fld>
            <a:endParaRPr lang="de-DE" dirty="0"/>
          </a:p>
        </p:txBody>
      </p:sp>
      <p:sp>
        <p:nvSpPr>
          <p:cNvPr id="15" name="Titel 14"/>
          <p:cNvSpPr>
            <a:spLocks noGrp="1"/>
          </p:cNvSpPr>
          <p:nvPr>
            <p:ph type="title"/>
          </p:nvPr>
        </p:nvSpPr>
        <p:spPr>
          <a:xfrm>
            <a:off x="549124" y="2451200"/>
            <a:ext cx="7623279" cy="584775"/>
          </a:xfrm>
          <a:prstGeom prst="rect">
            <a:avLst/>
          </a:prstGeom>
        </p:spPr>
        <p:txBody>
          <a:bodyPr vert="horz"/>
          <a:lstStyle>
            <a:lvl1pPr>
              <a:defRPr sz="4000">
                <a:solidFill>
                  <a:schemeClr val="tx2"/>
                </a:solidFill>
                <a:latin typeface="+mj-lt"/>
              </a:defRPr>
            </a:lvl1pPr>
          </a:lstStyle>
          <a:p>
            <a:endParaRPr lang="de-DE" dirty="0"/>
          </a:p>
        </p:txBody>
      </p:sp>
      <p:sp>
        <p:nvSpPr>
          <p:cNvPr id="74" name="Holder 3"/>
          <p:cNvSpPr>
            <a:spLocks noGrp="1"/>
          </p:cNvSpPr>
          <p:nvPr>
            <p:ph type="body" idx="1"/>
          </p:nvPr>
        </p:nvSpPr>
        <p:spPr>
          <a:xfrm>
            <a:off x="660797" y="2198515"/>
            <a:ext cx="5786438" cy="301228"/>
          </a:xfrm>
          <a:prstGeom prst="rect">
            <a:avLst/>
          </a:prstGeom>
        </p:spPr>
        <p:txBody>
          <a:bodyPr lIns="0" tIns="0" rIns="0" bIns="0"/>
          <a:lstStyle>
            <a:lvl1pPr>
              <a:defRPr sz="2000" b="0" i="0" cap="small">
                <a:solidFill>
                  <a:schemeClr val="accent6"/>
                </a:solidFill>
                <a:latin typeface="+mj-lt"/>
                <a:cs typeface="DINPro"/>
              </a:defRPr>
            </a:lvl1pPr>
          </a:lstStyle>
          <a:p>
            <a:endParaRPr dirty="0"/>
          </a:p>
        </p:txBody>
      </p:sp>
      <p:sp>
        <p:nvSpPr>
          <p:cNvPr id="13" name="Textplatzhalter 30"/>
          <p:cNvSpPr>
            <a:spLocks noGrp="1"/>
          </p:cNvSpPr>
          <p:nvPr>
            <p:ph type="body" sz="quarter" idx="12" hasCustomPrompt="1"/>
          </p:nvPr>
        </p:nvSpPr>
        <p:spPr>
          <a:xfrm>
            <a:off x="5965034" y="277939"/>
            <a:ext cx="2839641" cy="184666"/>
          </a:xfrm>
          <a:prstGeom prst="rect">
            <a:avLst/>
          </a:prstGeom>
        </p:spPr>
        <p:txBody>
          <a:bodyPr vert="horz"/>
          <a:lstStyle>
            <a:lvl1pPr algn="r">
              <a:defRPr sz="1200" baseline="0">
                <a:solidFill>
                  <a:srgbClr val="7F7F7F"/>
                </a:solidFill>
                <a:latin typeface="Calibri"/>
                <a:cs typeface="Calibri"/>
              </a:defRPr>
            </a:lvl1pPr>
          </a:lstStyle>
          <a:p>
            <a:pPr lvl="0"/>
            <a:r>
              <a:rPr lang="de-DE" dirty="0"/>
              <a:t>Institut/Zentrum für</a:t>
            </a:r>
          </a:p>
        </p:txBody>
      </p:sp>
      <p:sp>
        <p:nvSpPr>
          <p:cNvPr id="11" name="Untertitel 1"/>
          <p:cNvSpPr>
            <a:spLocks noGrp="1"/>
          </p:cNvSpPr>
          <p:nvPr>
            <p:ph type="subTitle" idx="4"/>
          </p:nvPr>
        </p:nvSpPr>
        <p:spPr>
          <a:xfrm>
            <a:off x="611560" y="3129628"/>
            <a:ext cx="6400800" cy="276999"/>
          </a:xfrm>
          <a:prstGeom prst="rect">
            <a:avLst/>
          </a:prstGeom>
        </p:spPr>
        <p:txBody>
          <a:bodyPr/>
          <a:lstStyle>
            <a:lvl1pPr>
              <a:defRPr>
                <a:solidFill>
                  <a:schemeClr val="accent6"/>
                </a:solidFill>
              </a:defRPr>
            </a:lvl1pPr>
          </a:lstStyle>
          <a:p>
            <a:endParaRPr lang="de-DE"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75" name="object 2"/>
          <p:cNvSpPr/>
          <p:nvPr userDrawn="1"/>
        </p:nvSpPr>
        <p:spPr>
          <a:xfrm>
            <a:off x="0" y="4781848"/>
            <a:ext cx="9144000" cy="361652"/>
          </a:xfrm>
          <a:custGeom>
            <a:avLst/>
            <a:gdLst/>
            <a:ahLst/>
            <a:cxnLst/>
            <a:rect l="l" t="t" r="r" b="b"/>
            <a:pathLst>
              <a:path w="13004800" h="6896100">
                <a:moveTo>
                  <a:pt x="0" y="6896100"/>
                </a:moveTo>
                <a:lnTo>
                  <a:pt x="13004800" y="6896100"/>
                </a:lnTo>
                <a:lnTo>
                  <a:pt x="13004800" y="0"/>
                </a:lnTo>
                <a:lnTo>
                  <a:pt x="0" y="0"/>
                </a:lnTo>
                <a:lnTo>
                  <a:pt x="0" y="6896100"/>
                </a:lnTo>
                <a:close/>
              </a:path>
            </a:pathLst>
          </a:custGeom>
          <a:solidFill>
            <a:schemeClr val="bg1">
              <a:lumMod val="95000"/>
            </a:schemeClr>
          </a:solidFill>
        </p:spPr>
        <p:txBody>
          <a:bodyPr wrap="square" lIns="0" tIns="0" rIns="0" bIns="0" rtlCol="0"/>
          <a:lstStyle/>
          <a:p>
            <a:endParaRPr sz="1100" dirty="0">
              <a:solidFill>
                <a:schemeClr val="bg1">
                  <a:lumMod val="85000"/>
                </a:schemeClr>
              </a:solidFill>
            </a:endParaRPr>
          </a:p>
        </p:txBody>
      </p:sp>
      <p:sp>
        <p:nvSpPr>
          <p:cNvPr id="2" name="Holder 2"/>
          <p:cNvSpPr>
            <a:spLocks noGrp="1"/>
          </p:cNvSpPr>
          <p:nvPr>
            <p:ph type="title"/>
          </p:nvPr>
        </p:nvSpPr>
        <p:spPr>
          <a:xfrm>
            <a:off x="660800" y="988761"/>
            <a:ext cx="7623279" cy="430887"/>
          </a:xfrm>
          <a:prstGeom prst="rect">
            <a:avLst/>
          </a:prstGeom>
        </p:spPr>
        <p:txBody>
          <a:bodyPr lIns="0" tIns="0" rIns="0" bIns="0"/>
          <a:lstStyle>
            <a:lvl1pPr>
              <a:defRPr sz="3200" b="0" i="0">
                <a:solidFill>
                  <a:schemeClr val="tx2"/>
                </a:solidFill>
                <a:latin typeface="+mj-lt"/>
                <a:cs typeface="DINPro"/>
              </a:defRPr>
            </a:lvl1pPr>
          </a:lstStyle>
          <a:p>
            <a:endParaRPr dirty="0"/>
          </a:p>
        </p:txBody>
      </p:sp>
      <p:sp>
        <p:nvSpPr>
          <p:cNvPr id="3" name="Holder 3"/>
          <p:cNvSpPr>
            <a:spLocks noGrp="1"/>
          </p:cNvSpPr>
          <p:nvPr>
            <p:ph type="body" idx="1"/>
          </p:nvPr>
        </p:nvSpPr>
        <p:spPr>
          <a:xfrm>
            <a:off x="1187624" y="1635646"/>
            <a:ext cx="5786438" cy="230832"/>
          </a:xfrm>
          <a:prstGeom prst="rect">
            <a:avLst/>
          </a:prstGeom>
        </p:spPr>
        <p:txBody>
          <a:bodyPr lIns="0" tIns="0" rIns="0" bIns="0"/>
          <a:lstStyle>
            <a:lvl1pPr>
              <a:defRPr sz="2000" b="0" i="0">
                <a:solidFill>
                  <a:schemeClr val="accent6"/>
                </a:solidFill>
                <a:latin typeface="+mj-lt"/>
                <a:cs typeface=""/>
              </a:defRPr>
            </a:lvl1pPr>
          </a:lstStyle>
          <a:p>
            <a:endParaRPr dirty="0"/>
          </a:p>
        </p:txBody>
      </p:sp>
      <p:sp>
        <p:nvSpPr>
          <p:cNvPr id="8" name="Holder 4"/>
          <p:cNvSpPr>
            <a:spLocks noGrp="1"/>
          </p:cNvSpPr>
          <p:nvPr>
            <p:ph type="ftr" sz="quarter" idx="3"/>
          </p:nvPr>
        </p:nvSpPr>
        <p:spPr>
          <a:xfrm>
            <a:off x="1732360" y="4877217"/>
            <a:ext cx="6054328" cy="145733"/>
          </a:xfrm>
          <a:prstGeom prst="rect">
            <a:avLst/>
          </a:prstGeom>
        </p:spPr>
        <p:txBody>
          <a:bodyPr lIns="0" tIns="0" rIns="0" bIns="0"/>
          <a:lstStyle>
            <a:lvl1pPr algn="ctr">
              <a:defRPr sz="900">
                <a:solidFill>
                  <a:schemeClr val="tx2">
                    <a:lumMod val="75000"/>
                  </a:schemeClr>
                </a:solidFill>
              </a:defRPr>
            </a:lvl1pPr>
          </a:lstStyle>
          <a:p>
            <a:r>
              <a:rPr lang="de-DE" dirty="0"/>
              <a:t>Georg-August-Universität Göttingen</a:t>
            </a:r>
          </a:p>
        </p:txBody>
      </p:sp>
      <p:sp>
        <p:nvSpPr>
          <p:cNvPr id="9" name="Holder 5"/>
          <p:cNvSpPr>
            <a:spLocks noGrp="1"/>
          </p:cNvSpPr>
          <p:nvPr>
            <p:ph type="dt" sz="half" idx="2"/>
          </p:nvPr>
        </p:nvSpPr>
        <p:spPr>
          <a:xfrm>
            <a:off x="218599" y="4875610"/>
            <a:ext cx="1031558" cy="147340"/>
          </a:xfrm>
          <a:prstGeom prst="rect">
            <a:avLst/>
          </a:prstGeom>
        </p:spPr>
        <p:txBody>
          <a:bodyPr lIns="0" tIns="0" rIns="0" bIns="0"/>
          <a:lstStyle>
            <a:lvl1pPr algn="l">
              <a:defRPr sz="900">
                <a:solidFill>
                  <a:schemeClr val="tx1">
                    <a:tint val="75000"/>
                  </a:schemeClr>
                </a:solidFill>
              </a:defRPr>
            </a:lvl1pPr>
          </a:lstStyle>
          <a:p>
            <a:fld id="{ACF5EF15-2C16-6A49-87B6-C5AFB945A04B}" type="datetime1">
              <a:rPr lang="de-DE" smtClean="0"/>
              <a:pPr/>
              <a:t>12.05.26</a:t>
            </a:fld>
            <a:endParaRPr lang="en-US" dirty="0"/>
          </a:p>
        </p:txBody>
      </p:sp>
      <p:sp>
        <p:nvSpPr>
          <p:cNvPr id="10" name="Holder 6"/>
          <p:cNvSpPr>
            <a:spLocks noGrp="1"/>
          </p:cNvSpPr>
          <p:nvPr>
            <p:ph type="sldNum" sz="quarter" idx="4"/>
          </p:nvPr>
        </p:nvSpPr>
        <p:spPr>
          <a:xfrm>
            <a:off x="8322472" y="4894526"/>
            <a:ext cx="602933" cy="128425"/>
          </a:xfrm>
          <a:prstGeom prst="rect">
            <a:avLst/>
          </a:prstGeom>
        </p:spPr>
        <p:txBody>
          <a:bodyPr lIns="0" tIns="0" rIns="0" bIns="0"/>
          <a:lstStyle>
            <a:lvl1pPr algn="r">
              <a:defRPr sz="900">
                <a:solidFill>
                  <a:schemeClr val="tx1">
                    <a:tint val="75000"/>
                  </a:schemeClr>
                </a:solidFill>
              </a:defRPr>
            </a:lvl1pPr>
          </a:lstStyle>
          <a:p>
            <a:fld id="{B6F15528-21DE-4FAA-801E-634DDDAF4B2B}" type="slidenum">
              <a:rPr lang="de-DE" smtClean="0"/>
              <a:pPr/>
              <a:t>‹#›</a:t>
            </a:fld>
            <a:endParaRPr lang="de-DE" dirty="0"/>
          </a:p>
        </p:txBody>
      </p:sp>
      <p:sp>
        <p:nvSpPr>
          <p:cNvPr id="13" name="Textplatzhalter 30"/>
          <p:cNvSpPr>
            <a:spLocks noGrp="1"/>
          </p:cNvSpPr>
          <p:nvPr>
            <p:ph type="body" sz="quarter" idx="12" hasCustomPrompt="1"/>
          </p:nvPr>
        </p:nvSpPr>
        <p:spPr>
          <a:xfrm>
            <a:off x="5965034" y="277939"/>
            <a:ext cx="2839641" cy="184666"/>
          </a:xfrm>
          <a:prstGeom prst="rect">
            <a:avLst/>
          </a:prstGeom>
        </p:spPr>
        <p:txBody>
          <a:bodyPr vert="horz"/>
          <a:lstStyle>
            <a:lvl1pPr algn="r">
              <a:defRPr sz="1200" baseline="0">
                <a:solidFill>
                  <a:srgbClr val="7F7F7F"/>
                </a:solidFill>
                <a:latin typeface="Calibri"/>
                <a:cs typeface="Calibri"/>
              </a:defRPr>
            </a:lvl1pPr>
          </a:lstStyle>
          <a:p>
            <a:pPr lvl="0"/>
            <a:r>
              <a:rPr lang="de-DE" dirty="0"/>
              <a:t>Institut/Zentrum für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ufzählung">
    <p:spTree>
      <p:nvGrpSpPr>
        <p:cNvPr id="1" name=""/>
        <p:cNvGrpSpPr/>
        <p:nvPr/>
      </p:nvGrpSpPr>
      <p:grpSpPr>
        <a:xfrm>
          <a:off x="0" y="0"/>
          <a:ext cx="0" cy="0"/>
          <a:chOff x="0" y="0"/>
          <a:chExt cx="0" cy="0"/>
        </a:xfrm>
      </p:grpSpPr>
      <p:sp>
        <p:nvSpPr>
          <p:cNvPr id="74" name="object 2"/>
          <p:cNvSpPr/>
          <p:nvPr userDrawn="1"/>
        </p:nvSpPr>
        <p:spPr>
          <a:xfrm>
            <a:off x="0" y="4781848"/>
            <a:ext cx="9144000" cy="361652"/>
          </a:xfrm>
          <a:custGeom>
            <a:avLst/>
            <a:gdLst/>
            <a:ahLst/>
            <a:cxnLst/>
            <a:rect l="l" t="t" r="r" b="b"/>
            <a:pathLst>
              <a:path w="13004800" h="6896100">
                <a:moveTo>
                  <a:pt x="0" y="6896100"/>
                </a:moveTo>
                <a:lnTo>
                  <a:pt x="13004800" y="6896100"/>
                </a:lnTo>
                <a:lnTo>
                  <a:pt x="13004800" y="0"/>
                </a:lnTo>
                <a:lnTo>
                  <a:pt x="0" y="0"/>
                </a:lnTo>
                <a:lnTo>
                  <a:pt x="0" y="6896100"/>
                </a:lnTo>
                <a:close/>
              </a:path>
            </a:pathLst>
          </a:custGeom>
          <a:solidFill>
            <a:schemeClr val="bg1">
              <a:lumMod val="95000"/>
            </a:schemeClr>
          </a:solidFill>
        </p:spPr>
        <p:txBody>
          <a:bodyPr wrap="square" lIns="0" tIns="0" rIns="0" bIns="0" rtlCol="0"/>
          <a:lstStyle/>
          <a:p>
            <a:endParaRPr sz="1100" dirty="0">
              <a:solidFill>
                <a:schemeClr val="bg1">
                  <a:lumMod val="85000"/>
                </a:schemeClr>
              </a:solidFill>
            </a:endParaRPr>
          </a:p>
        </p:txBody>
      </p:sp>
      <p:sp>
        <p:nvSpPr>
          <p:cNvPr id="2" name="Holder 2"/>
          <p:cNvSpPr>
            <a:spLocks noGrp="1"/>
          </p:cNvSpPr>
          <p:nvPr>
            <p:ph type="title"/>
          </p:nvPr>
        </p:nvSpPr>
        <p:spPr>
          <a:xfrm>
            <a:off x="660800" y="988761"/>
            <a:ext cx="7623279" cy="430887"/>
          </a:xfrm>
          <a:prstGeom prst="rect">
            <a:avLst/>
          </a:prstGeom>
        </p:spPr>
        <p:txBody>
          <a:bodyPr lIns="0" tIns="0" rIns="0" bIns="0"/>
          <a:lstStyle>
            <a:lvl1pPr>
              <a:defRPr sz="3200" b="0" i="0">
                <a:solidFill>
                  <a:schemeClr val="tx2"/>
                </a:solidFill>
                <a:latin typeface="+mj-lt"/>
                <a:cs typeface="DINPro"/>
              </a:defRPr>
            </a:lvl1pPr>
          </a:lstStyle>
          <a:p>
            <a:endParaRPr dirty="0"/>
          </a:p>
        </p:txBody>
      </p:sp>
      <p:sp>
        <p:nvSpPr>
          <p:cNvPr id="3" name="Holder 3"/>
          <p:cNvSpPr>
            <a:spLocks noGrp="1"/>
          </p:cNvSpPr>
          <p:nvPr>
            <p:ph type="body" idx="1"/>
          </p:nvPr>
        </p:nvSpPr>
        <p:spPr>
          <a:xfrm>
            <a:off x="899595" y="1635646"/>
            <a:ext cx="5811749" cy="230832"/>
          </a:xfrm>
          <a:prstGeom prst="rect">
            <a:avLst/>
          </a:prstGeom>
        </p:spPr>
        <p:txBody>
          <a:bodyPr lIns="0" tIns="0" rIns="0" bIns="0"/>
          <a:lstStyle>
            <a:lvl1pPr marL="285750" indent="-285750">
              <a:spcAft>
                <a:spcPts val="377"/>
              </a:spcAft>
              <a:buClr>
                <a:schemeClr val="tx2"/>
              </a:buClr>
              <a:buSzPct val="104000"/>
              <a:buFont typeface="Calibri" panose="020F0502020204030204" pitchFamily="34" charset="0"/>
              <a:buChar char="•"/>
              <a:defRPr sz="2000" b="0" i="0" baseline="0">
                <a:solidFill>
                  <a:schemeClr val="accent6"/>
                </a:solidFill>
                <a:latin typeface="+mj-lt"/>
                <a:cs typeface=""/>
              </a:defRPr>
            </a:lvl1pPr>
          </a:lstStyle>
          <a:p>
            <a:endParaRPr lang="de-DE" dirty="0"/>
          </a:p>
        </p:txBody>
      </p:sp>
      <p:sp>
        <p:nvSpPr>
          <p:cNvPr id="11" name="Textplatzhalter 30"/>
          <p:cNvSpPr>
            <a:spLocks noGrp="1"/>
          </p:cNvSpPr>
          <p:nvPr>
            <p:ph type="body" sz="quarter" idx="12" hasCustomPrompt="1"/>
          </p:nvPr>
        </p:nvSpPr>
        <p:spPr>
          <a:xfrm>
            <a:off x="5965034" y="277939"/>
            <a:ext cx="2839641" cy="184666"/>
          </a:xfrm>
          <a:prstGeom prst="rect">
            <a:avLst/>
          </a:prstGeom>
        </p:spPr>
        <p:txBody>
          <a:bodyPr vert="horz"/>
          <a:lstStyle>
            <a:lvl1pPr algn="r">
              <a:defRPr sz="1200" baseline="0">
                <a:solidFill>
                  <a:srgbClr val="7F7F7F"/>
                </a:solidFill>
                <a:latin typeface="Calibri"/>
                <a:cs typeface="Calibri"/>
              </a:defRPr>
            </a:lvl1pPr>
          </a:lstStyle>
          <a:p>
            <a:pPr lvl="0"/>
            <a:r>
              <a:rPr lang="de-DE" dirty="0"/>
              <a:t>Institut/Zentrum für</a:t>
            </a:r>
          </a:p>
        </p:txBody>
      </p:sp>
      <p:sp>
        <p:nvSpPr>
          <p:cNvPr id="8" name="Holder 4"/>
          <p:cNvSpPr>
            <a:spLocks noGrp="1"/>
          </p:cNvSpPr>
          <p:nvPr>
            <p:ph type="ftr" sz="quarter" idx="3"/>
          </p:nvPr>
        </p:nvSpPr>
        <p:spPr>
          <a:xfrm>
            <a:off x="1732360" y="4877217"/>
            <a:ext cx="6054328" cy="145733"/>
          </a:xfrm>
          <a:prstGeom prst="rect">
            <a:avLst/>
          </a:prstGeom>
        </p:spPr>
        <p:txBody>
          <a:bodyPr lIns="0" tIns="0" rIns="0" bIns="0"/>
          <a:lstStyle>
            <a:lvl1pPr algn="ctr">
              <a:defRPr sz="900">
                <a:solidFill>
                  <a:schemeClr val="tx2">
                    <a:lumMod val="75000"/>
                  </a:schemeClr>
                </a:solidFill>
              </a:defRPr>
            </a:lvl1pPr>
          </a:lstStyle>
          <a:p>
            <a:r>
              <a:rPr lang="de-DE" dirty="0"/>
              <a:t>Georg-August-Universität Göttingen</a:t>
            </a:r>
          </a:p>
        </p:txBody>
      </p:sp>
      <p:sp>
        <p:nvSpPr>
          <p:cNvPr id="9" name="Holder 5"/>
          <p:cNvSpPr>
            <a:spLocks noGrp="1"/>
          </p:cNvSpPr>
          <p:nvPr>
            <p:ph type="dt" sz="half" idx="2"/>
          </p:nvPr>
        </p:nvSpPr>
        <p:spPr>
          <a:xfrm>
            <a:off x="218599" y="4875610"/>
            <a:ext cx="1031558" cy="147340"/>
          </a:xfrm>
          <a:prstGeom prst="rect">
            <a:avLst/>
          </a:prstGeom>
        </p:spPr>
        <p:txBody>
          <a:bodyPr lIns="0" tIns="0" rIns="0" bIns="0"/>
          <a:lstStyle>
            <a:lvl1pPr algn="l">
              <a:defRPr sz="900">
                <a:solidFill>
                  <a:schemeClr val="tx1">
                    <a:tint val="75000"/>
                  </a:schemeClr>
                </a:solidFill>
              </a:defRPr>
            </a:lvl1pPr>
          </a:lstStyle>
          <a:p>
            <a:fld id="{ACF5EF15-2C16-6A49-87B6-C5AFB945A04B}" type="datetime1">
              <a:rPr lang="de-DE" smtClean="0"/>
              <a:pPr/>
              <a:t>12.05.26</a:t>
            </a:fld>
            <a:endParaRPr lang="en-US" dirty="0"/>
          </a:p>
        </p:txBody>
      </p:sp>
      <p:sp>
        <p:nvSpPr>
          <p:cNvPr id="10" name="Holder 6"/>
          <p:cNvSpPr>
            <a:spLocks noGrp="1"/>
          </p:cNvSpPr>
          <p:nvPr>
            <p:ph type="sldNum" sz="quarter" idx="4"/>
          </p:nvPr>
        </p:nvSpPr>
        <p:spPr>
          <a:xfrm>
            <a:off x="8322472" y="4894526"/>
            <a:ext cx="602933" cy="128425"/>
          </a:xfrm>
          <a:prstGeom prst="rect">
            <a:avLst/>
          </a:prstGeom>
        </p:spPr>
        <p:txBody>
          <a:bodyPr lIns="0" tIns="0" rIns="0" bIns="0"/>
          <a:lstStyle>
            <a:lvl1pPr algn="r">
              <a:defRPr sz="900">
                <a:solidFill>
                  <a:schemeClr val="tx1">
                    <a:tint val="75000"/>
                  </a:schemeClr>
                </a:solidFill>
              </a:defRPr>
            </a:lvl1pPr>
          </a:lstStyle>
          <a:p>
            <a:fld id="{B6F15528-21DE-4FAA-801E-634DDDAF4B2B}" type="slidenum">
              <a:rPr lang="de-DE" smtClean="0"/>
              <a:pPr/>
              <a:t>‹#›</a:t>
            </a:fld>
            <a:endParaRPr lang="de-DE"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Großes Bild">
    <p:spTree>
      <p:nvGrpSpPr>
        <p:cNvPr id="1" name=""/>
        <p:cNvGrpSpPr/>
        <p:nvPr/>
      </p:nvGrpSpPr>
      <p:grpSpPr>
        <a:xfrm>
          <a:off x="0" y="0"/>
          <a:ext cx="0" cy="0"/>
          <a:chOff x="0" y="0"/>
          <a:chExt cx="0" cy="0"/>
        </a:xfrm>
      </p:grpSpPr>
      <p:sp>
        <p:nvSpPr>
          <p:cNvPr id="5" name="Textplatzhalter 30"/>
          <p:cNvSpPr>
            <a:spLocks noGrp="1"/>
          </p:cNvSpPr>
          <p:nvPr>
            <p:ph type="body" sz="quarter" idx="12" hasCustomPrompt="1"/>
          </p:nvPr>
        </p:nvSpPr>
        <p:spPr>
          <a:xfrm>
            <a:off x="5965034" y="277939"/>
            <a:ext cx="2839641" cy="184666"/>
          </a:xfrm>
          <a:prstGeom prst="rect">
            <a:avLst/>
          </a:prstGeom>
        </p:spPr>
        <p:txBody>
          <a:bodyPr vert="horz"/>
          <a:lstStyle>
            <a:lvl1pPr algn="r">
              <a:defRPr sz="1200" baseline="0">
                <a:solidFill>
                  <a:srgbClr val="7F7F7F"/>
                </a:solidFill>
                <a:latin typeface="Calibri"/>
                <a:cs typeface="Calibri"/>
              </a:defRPr>
            </a:lvl1pPr>
          </a:lstStyle>
          <a:p>
            <a:pPr lvl="0"/>
            <a:r>
              <a:rPr lang="de-DE" dirty="0"/>
              <a:t>Institut/Zentrum für</a:t>
            </a:r>
          </a:p>
        </p:txBody>
      </p:sp>
      <p:sp>
        <p:nvSpPr>
          <p:cNvPr id="3" name="Bildplatzhalter 2"/>
          <p:cNvSpPr>
            <a:spLocks noGrp="1"/>
          </p:cNvSpPr>
          <p:nvPr>
            <p:ph type="pic" sz="quarter" idx="13"/>
          </p:nvPr>
        </p:nvSpPr>
        <p:spPr>
          <a:xfrm>
            <a:off x="0" y="700088"/>
            <a:ext cx="9144000" cy="4103910"/>
          </a:xfrm>
          <a:prstGeom prst="rect">
            <a:avLst/>
          </a:prstGeom>
        </p:spPr>
        <p:txBody>
          <a:bodyPr/>
          <a:lstStyle/>
          <a:p>
            <a:endParaRPr lang="de-DE"/>
          </a:p>
        </p:txBody>
      </p:sp>
      <p:sp>
        <p:nvSpPr>
          <p:cNvPr id="7" name="Holder 4"/>
          <p:cNvSpPr>
            <a:spLocks noGrp="1"/>
          </p:cNvSpPr>
          <p:nvPr>
            <p:ph type="ftr" sz="quarter" idx="3"/>
          </p:nvPr>
        </p:nvSpPr>
        <p:spPr>
          <a:xfrm>
            <a:off x="1732360" y="4877217"/>
            <a:ext cx="6054328" cy="145733"/>
          </a:xfrm>
          <a:prstGeom prst="rect">
            <a:avLst/>
          </a:prstGeom>
        </p:spPr>
        <p:txBody>
          <a:bodyPr lIns="0" tIns="0" rIns="0" bIns="0"/>
          <a:lstStyle>
            <a:lvl1pPr algn="ctr">
              <a:defRPr sz="900">
                <a:solidFill>
                  <a:schemeClr val="tx2">
                    <a:lumMod val="75000"/>
                  </a:schemeClr>
                </a:solidFill>
              </a:defRPr>
            </a:lvl1pPr>
          </a:lstStyle>
          <a:p>
            <a:r>
              <a:rPr lang="de-DE" dirty="0"/>
              <a:t>Georg-August-Universität Göttingen</a:t>
            </a:r>
          </a:p>
        </p:txBody>
      </p:sp>
      <p:sp>
        <p:nvSpPr>
          <p:cNvPr id="8" name="Holder 5"/>
          <p:cNvSpPr>
            <a:spLocks noGrp="1"/>
          </p:cNvSpPr>
          <p:nvPr>
            <p:ph type="dt" sz="half" idx="2"/>
          </p:nvPr>
        </p:nvSpPr>
        <p:spPr>
          <a:xfrm>
            <a:off x="218599" y="4875610"/>
            <a:ext cx="1031558" cy="147340"/>
          </a:xfrm>
          <a:prstGeom prst="rect">
            <a:avLst/>
          </a:prstGeom>
        </p:spPr>
        <p:txBody>
          <a:bodyPr lIns="0" tIns="0" rIns="0" bIns="0"/>
          <a:lstStyle>
            <a:lvl1pPr algn="l">
              <a:defRPr sz="900">
                <a:solidFill>
                  <a:schemeClr val="tx1">
                    <a:tint val="75000"/>
                  </a:schemeClr>
                </a:solidFill>
              </a:defRPr>
            </a:lvl1pPr>
          </a:lstStyle>
          <a:p>
            <a:fld id="{ACF5EF15-2C16-6A49-87B6-C5AFB945A04B}" type="datetime1">
              <a:rPr lang="de-DE" smtClean="0"/>
              <a:pPr/>
              <a:t>12.05.26</a:t>
            </a:fld>
            <a:endParaRPr lang="en-US" dirty="0"/>
          </a:p>
        </p:txBody>
      </p:sp>
      <p:sp>
        <p:nvSpPr>
          <p:cNvPr id="9" name="Holder 6"/>
          <p:cNvSpPr>
            <a:spLocks noGrp="1"/>
          </p:cNvSpPr>
          <p:nvPr>
            <p:ph type="sldNum" sz="quarter" idx="4"/>
          </p:nvPr>
        </p:nvSpPr>
        <p:spPr>
          <a:xfrm>
            <a:off x="8322472" y="4894526"/>
            <a:ext cx="602933" cy="128425"/>
          </a:xfrm>
          <a:prstGeom prst="rect">
            <a:avLst/>
          </a:prstGeom>
        </p:spPr>
        <p:txBody>
          <a:bodyPr lIns="0" tIns="0" rIns="0" bIns="0"/>
          <a:lstStyle>
            <a:lvl1pPr algn="r">
              <a:defRPr sz="900">
                <a:solidFill>
                  <a:schemeClr val="tx1">
                    <a:tint val="75000"/>
                  </a:schemeClr>
                </a:solidFill>
              </a:defRPr>
            </a:lvl1pPr>
          </a:lstStyle>
          <a:p>
            <a:fld id="{B6F15528-21DE-4FAA-801E-634DDDAF4B2B}" type="slidenum">
              <a:rPr lang="de-DE" smtClean="0"/>
              <a:pPr/>
              <a:t>‹#›</a:t>
            </a:fld>
            <a:endParaRPr lang="de-DE"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Bild 13"/>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2708" y="1525"/>
            <a:ext cx="9130468" cy="5140454"/>
          </a:xfrm>
          <a:prstGeom prst="rect">
            <a:avLst/>
          </a:prstGeom>
        </p:spPr>
      </p:pic>
      <p:sp>
        <p:nvSpPr>
          <p:cNvPr id="7" name="Holder 4"/>
          <p:cNvSpPr>
            <a:spLocks noGrp="1"/>
          </p:cNvSpPr>
          <p:nvPr>
            <p:ph type="ftr" sz="quarter" idx="3"/>
          </p:nvPr>
        </p:nvSpPr>
        <p:spPr>
          <a:xfrm>
            <a:off x="1732360" y="4877217"/>
            <a:ext cx="6054328" cy="145733"/>
          </a:xfrm>
          <a:prstGeom prst="rect">
            <a:avLst/>
          </a:prstGeom>
        </p:spPr>
        <p:txBody>
          <a:bodyPr lIns="0" tIns="0" rIns="0" bIns="0"/>
          <a:lstStyle>
            <a:lvl1pPr algn="ctr">
              <a:defRPr sz="900">
                <a:solidFill>
                  <a:srgbClr val="17375E"/>
                </a:solidFill>
              </a:defRPr>
            </a:lvl1pPr>
          </a:lstStyle>
          <a:p>
            <a:r>
              <a:rPr lang="de-DE" dirty="0"/>
              <a:t>Georg-August-Universität Göttingen</a:t>
            </a:r>
          </a:p>
        </p:txBody>
      </p:sp>
      <p:sp>
        <p:nvSpPr>
          <p:cNvPr id="8" name="Holder 5"/>
          <p:cNvSpPr>
            <a:spLocks noGrp="1"/>
          </p:cNvSpPr>
          <p:nvPr>
            <p:ph type="dt" sz="half" idx="2"/>
          </p:nvPr>
        </p:nvSpPr>
        <p:spPr>
          <a:xfrm>
            <a:off x="218599" y="4875610"/>
            <a:ext cx="1031558" cy="147340"/>
          </a:xfrm>
          <a:prstGeom prst="rect">
            <a:avLst/>
          </a:prstGeom>
        </p:spPr>
        <p:txBody>
          <a:bodyPr lIns="0" tIns="0" rIns="0" bIns="0"/>
          <a:lstStyle>
            <a:lvl1pPr algn="l">
              <a:defRPr sz="900">
                <a:solidFill>
                  <a:schemeClr val="tx1">
                    <a:tint val="75000"/>
                  </a:schemeClr>
                </a:solidFill>
              </a:defRPr>
            </a:lvl1pPr>
          </a:lstStyle>
          <a:p>
            <a:fld id="{C8A51442-76F6-0047-9EC6-9C35C6FEA6B1}" type="datetime1">
              <a:rPr lang="de-DE" smtClean="0"/>
              <a:pPr/>
              <a:t>12.05.26</a:t>
            </a:fld>
            <a:endParaRPr lang="en-US" dirty="0"/>
          </a:p>
        </p:txBody>
      </p:sp>
      <p:sp>
        <p:nvSpPr>
          <p:cNvPr id="9" name="Holder 6"/>
          <p:cNvSpPr>
            <a:spLocks noGrp="1"/>
          </p:cNvSpPr>
          <p:nvPr>
            <p:ph type="sldNum" sz="quarter" idx="4"/>
          </p:nvPr>
        </p:nvSpPr>
        <p:spPr>
          <a:xfrm>
            <a:off x="8322472" y="4894526"/>
            <a:ext cx="602933" cy="128425"/>
          </a:xfrm>
          <a:prstGeom prst="rect">
            <a:avLst/>
          </a:prstGeom>
        </p:spPr>
        <p:txBody>
          <a:bodyPr lIns="0" tIns="0" rIns="0" bIns="0"/>
          <a:lstStyle>
            <a:lvl1pPr algn="r">
              <a:defRPr sz="900">
                <a:solidFill>
                  <a:schemeClr val="tx1">
                    <a:tint val="75000"/>
                  </a:schemeClr>
                </a:solidFill>
              </a:defRPr>
            </a:lvl1pPr>
          </a:lstStyle>
          <a:p>
            <a:fld id="{B6F15528-21DE-4FAA-801E-634DDDAF4B2B}" type="slidenum">
              <a:rPr lang="de-DE" smtClean="0"/>
              <a:pPr/>
              <a:t>‹#›</a:t>
            </a:fld>
            <a:endParaRPr lang="de-DE"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8" r:id="rId4"/>
  </p:sldLayoutIdLst>
  <p:hf hdr="0"/>
  <p:txStyles>
    <p:titleStyle>
      <a:lvl1pPr>
        <a:defRPr>
          <a:latin typeface="+mj-lt"/>
          <a:ea typeface="+mj-ea"/>
          <a:cs typeface="+mj-cs"/>
        </a:defRPr>
      </a:lvl1pPr>
    </p:titleStyle>
    <p:bodyStyle>
      <a:lvl1pPr marL="0">
        <a:defRPr>
          <a:latin typeface="+mn-lt"/>
          <a:ea typeface="+mn-ea"/>
          <a:cs typeface="+mn-cs"/>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p:bodyStyle>
    <p:otherStyle>
      <a:lvl1pPr marL="0">
        <a:defRPr>
          <a:latin typeface="+mn-lt"/>
          <a:ea typeface="+mn-ea"/>
          <a:cs typeface="+mn-cs"/>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z="3200" dirty="0"/>
              <a:t>CEO Incentives and Acquisitions: </a:t>
            </a:r>
            <a:r>
              <a:rPr lang="en-US" sz="3200" dirty="0"/>
              <a:t>Evidence from the Pay Ratio Disclosure Mandate*</a:t>
            </a:r>
            <a:endParaRPr lang="de-DE" sz="3200" dirty="0"/>
          </a:p>
        </p:txBody>
      </p:sp>
      <p:sp>
        <p:nvSpPr>
          <p:cNvPr id="3" name="Textplatzhalter 2"/>
          <p:cNvSpPr>
            <a:spLocks noGrp="1"/>
          </p:cNvSpPr>
          <p:nvPr>
            <p:ph type="body" idx="1"/>
          </p:nvPr>
        </p:nvSpPr>
        <p:spPr/>
        <p:txBody>
          <a:bodyPr/>
          <a:lstStyle/>
          <a:p>
            <a:r>
              <a:rPr lang="de-DE" dirty="0"/>
              <a:t>A Writing </a:t>
            </a:r>
            <a:r>
              <a:rPr lang="de-DE" dirty="0" err="1"/>
              <a:t>Critique</a:t>
            </a:r>
            <a:r>
              <a:rPr lang="de-DE" dirty="0"/>
              <a:t> </a:t>
            </a:r>
            <a:r>
              <a:rPr lang="de-DE" dirty="0" err="1"/>
              <a:t>of</a:t>
            </a:r>
            <a:r>
              <a:rPr lang="de-DE" dirty="0"/>
              <a:t> </a:t>
            </a:r>
          </a:p>
        </p:txBody>
      </p:sp>
      <p:sp>
        <p:nvSpPr>
          <p:cNvPr id="4" name="Textplatzhalter 3"/>
          <p:cNvSpPr>
            <a:spLocks noGrp="1"/>
          </p:cNvSpPr>
          <p:nvPr>
            <p:ph type="body" sz="quarter" idx="12"/>
          </p:nvPr>
        </p:nvSpPr>
        <p:spPr/>
        <p:txBody>
          <a:bodyPr/>
          <a:lstStyle/>
          <a:p>
            <a:r>
              <a:rPr lang="de-DE" dirty="0"/>
              <a:t>Xianghan Cao &amp; Benedict Schmitt</a:t>
            </a:r>
          </a:p>
        </p:txBody>
      </p:sp>
      <p:sp>
        <p:nvSpPr>
          <p:cNvPr id="5" name="Untertitel 4"/>
          <p:cNvSpPr>
            <a:spLocks noGrp="1"/>
          </p:cNvSpPr>
          <p:nvPr>
            <p:ph type="subTitle" idx="4"/>
          </p:nvPr>
        </p:nvSpPr>
        <p:spPr>
          <a:xfrm>
            <a:off x="611560" y="3507854"/>
            <a:ext cx="6552728" cy="276999"/>
          </a:xfrm>
        </p:spPr>
        <p:txBody>
          <a:bodyPr/>
          <a:lstStyle/>
          <a:p>
            <a:r>
              <a:rPr lang="de-DE" dirty="0"/>
              <a:t>2025 Working Paper </a:t>
            </a:r>
            <a:r>
              <a:rPr lang="de-DE" dirty="0" err="1"/>
              <a:t>by</a:t>
            </a:r>
            <a:r>
              <a:rPr lang="de-DE" dirty="0"/>
              <a:t> </a:t>
            </a:r>
            <a:r>
              <a:rPr lang="de-DE" dirty="0" err="1"/>
              <a:t>Sudipto</a:t>
            </a:r>
            <a:r>
              <a:rPr lang="de-DE" dirty="0"/>
              <a:t> </a:t>
            </a:r>
            <a:r>
              <a:rPr lang="de-DE" dirty="0" err="1"/>
              <a:t>Dasgupta</a:t>
            </a:r>
            <a:r>
              <a:rPr lang="de-DE" dirty="0"/>
              <a:t>, Tao Shu &amp; </a:t>
            </a:r>
            <a:r>
              <a:rPr lang="de-DE" dirty="0" err="1"/>
              <a:t>Yuxuan</a:t>
            </a:r>
            <a:r>
              <a:rPr lang="de-DE" dirty="0"/>
              <a:t> Zhu</a:t>
            </a:r>
          </a:p>
        </p:txBody>
      </p:sp>
      <p:sp>
        <p:nvSpPr>
          <p:cNvPr id="6" name="Untertitel 4">
            <a:extLst>
              <a:ext uri="{FF2B5EF4-FFF2-40B4-BE49-F238E27FC236}">
                <a16:creationId xmlns:a16="http://schemas.microsoft.com/office/drawing/2014/main" id="{F26A4710-7C45-49D5-BEFC-05A62C806B10}"/>
              </a:ext>
            </a:extLst>
          </p:cNvPr>
          <p:cNvSpPr txBox="1">
            <a:spLocks/>
          </p:cNvSpPr>
          <p:nvPr/>
        </p:nvSpPr>
        <p:spPr>
          <a:xfrm>
            <a:off x="549744" y="3867894"/>
            <a:ext cx="4742336" cy="276999"/>
          </a:xfrm>
          <a:prstGeom prst="rect">
            <a:avLst/>
          </a:prstGeom>
        </p:spPr>
        <p:txBody>
          <a:bodyPr/>
          <a:lstStyle>
            <a:lvl1pPr marL="0">
              <a:defRPr>
                <a:solidFill>
                  <a:schemeClr val="accent6"/>
                </a:solidFill>
                <a:latin typeface="+mn-lt"/>
                <a:ea typeface="+mn-ea"/>
                <a:cs typeface="+mn-cs"/>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US" sz="1200" kern="0" dirty="0"/>
              <a:t>*Presented at several venues, including SFS Cavalcade Asia-Pacific 2025</a:t>
            </a:r>
            <a:endParaRPr lang="de-DE" sz="1200" kern="0" dirty="0"/>
          </a:p>
        </p:txBody>
      </p:sp>
      <p:pic>
        <p:nvPicPr>
          <p:cNvPr id="1026" name="Picture 2" descr="University of Oulu - Wikipedia">
            <a:extLst>
              <a:ext uri="{FF2B5EF4-FFF2-40B4-BE49-F238E27FC236}">
                <a16:creationId xmlns:a16="http://schemas.microsoft.com/office/drawing/2014/main" id="{D1D0CC9D-4DF9-4078-B5DC-650362B91C1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380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C8B370-94FD-4E32-A164-77C78B6BE873}"/>
              </a:ext>
            </a:extLst>
          </p:cNvPr>
          <p:cNvSpPr>
            <a:spLocks noGrp="1"/>
          </p:cNvSpPr>
          <p:nvPr>
            <p:ph type="title"/>
          </p:nvPr>
        </p:nvSpPr>
        <p:spPr/>
        <p:txBody>
          <a:bodyPr/>
          <a:lstStyle/>
          <a:p>
            <a:r>
              <a:rPr lang="en-GB" sz="2800" dirty="0"/>
              <a:t>The Paper in a Nutshell</a:t>
            </a:r>
          </a:p>
        </p:txBody>
      </p:sp>
      <p:sp>
        <p:nvSpPr>
          <p:cNvPr id="3" name="Textplatzhalter 2">
            <a:extLst>
              <a:ext uri="{FF2B5EF4-FFF2-40B4-BE49-F238E27FC236}">
                <a16:creationId xmlns:a16="http://schemas.microsoft.com/office/drawing/2014/main" id="{065824FD-21BB-4CC2-A4F9-11235CEE176E}"/>
              </a:ext>
            </a:extLst>
          </p:cNvPr>
          <p:cNvSpPr>
            <a:spLocks noGrp="1"/>
          </p:cNvSpPr>
          <p:nvPr>
            <p:ph type="body" idx="1"/>
          </p:nvPr>
        </p:nvSpPr>
        <p:spPr>
          <a:xfrm>
            <a:off x="660800" y="1450980"/>
            <a:ext cx="7799632" cy="1656184"/>
          </a:xfrm>
        </p:spPr>
        <p:txBody>
          <a:bodyPr/>
          <a:lstStyle/>
          <a:p>
            <a:pPr marL="342900" indent="-342900">
              <a:buFont typeface="Arial" panose="020B0604020202020204" pitchFamily="34" charset="0"/>
              <a:buChar char="•"/>
            </a:pPr>
            <a:r>
              <a:rPr lang="en-US" sz="1800" dirty="0"/>
              <a:t>Setting: 2017 SEC mandate forcing firms to disclose CEO-to-median-worker pay ratio</a:t>
            </a:r>
          </a:p>
          <a:p>
            <a:pPr marL="342900" indent="-342900">
              <a:buFont typeface="Arial" panose="020B0604020202020204" pitchFamily="34" charset="0"/>
              <a:buChar char="•"/>
            </a:pPr>
            <a:r>
              <a:rPr lang="en-US" sz="1800" dirty="0"/>
              <a:t>Question: Did the mandate change CEO pay sensitivity, and thus CEO behavior (M&amp;A)?</a:t>
            </a:r>
          </a:p>
          <a:p>
            <a:pPr marL="342900" indent="-342900">
              <a:buFont typeface="Arial" panose="020B0604020202020204" pitchFamily="34" charset="0"/>
              <a:buChar char="•"/>
            </a:pPr>
            <a:r>
              <a:rPr lang="en-US" sz="1800" dirty="0"/>
              <a:t>Identification: </a:t>
            </a:r>
            <a:r>
              <a:rPr lang="en-US" sz="1800" dirty="0" err="1"/>
              <a:t>DiD</a:t>
            </a:r>
            <a:r>
              <a:rPr lang="en-US" sz="1800" dirty="0"/>
              <a:t> — high vs. low pay-ratio firms, before vs. after 2018</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Finding 1: High-ratio firms cut pay-size and upside pay-performance sensitivity</a:t>
            </a:r>
          </a:p>
          <a:p>
            <a:pPr marL="342900" indent="-342900">
              <a:buFont typeface="Arial" panose="020B0604020202020204" pitchFamily="34" charset="0"/>
              <a:buChar char="•"/>
            </a:pPr>
            <a:r>
              <a:rPr lang="en-US" sz="1800" dirty="0"/>
              <a:t>Finding 2: These firms do fewer but better large Acquisitions, and more but worse small Acquisitions</a:t>
            </a:r>
          </a:p>
          <a:p>
            <a:endParaRPr lang="en-GB" dirty="0"/>
          </a:p>
        </p:txBody>
      </p:sp>
      <p:sp>
        <p:nvSpPr>
          <p:cNvPr id="4" name="Fußzeilenplatzhalter 3">
            <a:extLst>
              <a:ext uri="{FF2B5EF4-FFF2-40B4-BE49-F238E27FC236}">
                <a16:creationId xmlns:a16="http://schemas.microsoft.com/office/drawing/2014/main" id="{C4BF367D-47AA-4BDB-BFCE-F3AB8749D86F}"/>
              </a:ext>
            </a:extLst>
          </p:cNvPr>
          <p:cNvSpPr>
            <a:spLocks noGrp="1"/>
          </p:cNvSpPr>
          <p:nvPr>
            <p:ph type="ftr" sz="quarter" idx="3"/>
          </p:nvPr>
        </p:nvSpPr>
        <p:spPr/>
        <p:txBody>
          <a:bodyPr/>
          <a:lstStyle/>
          <a:p>
            <a:r>
              <a:rPr lang="de-DE" dirty="0"/>
              <a:t>University </a:t>
            </a:r>
            <a:r>
              <a:rPr lang="de-DE" dirty="0" err="1"/>
              <a:t>of</a:t>
            </a:r>
            <a:r>
              <a:rPr lang="de-DE" dirty="0"/>
              <a:t> </a:t>
            </a:r>
            <a:r>
              <a:rPr lang="de-DE" dirty="0" err="1"/>
              <a:t>Goettingen</a:t>
            </a:r>
            <a:r>
              <a:rPr lang="de-DE" dirty="0"/>
              <a:t> &amp; University </a:t>
            </a:r>
            <a:r>
              <a:rPr lang="de-DE" dirty="0" err="1"/>
              <a:t>of</a:t>
            </a:r>
            <a:r>
              <a:rPr lang="de-DE" dirty="0"/>
              <a:t> Oulu</a:t>
            </a:r>
          </a:p>
        </p:txBody>
      </p:sp>
      <p:sp>
        <p:nvSpPr>
          <p:cNvPr id="5" name="Datumsplatzhalter 4">
            <a:extLst>
              <a:ext uri="{FF2B5EF4-FFF2-40B4-BE49-F238E27FC236}">
                <a16:creationId xmlns:a16="http://schemas.microsoft.com/office/drawing/2014/main" id="{F3B126D7-DB4D-4070-8DFA-CEA326BB47AC}"/>
              </a:ext>
            </a:extLst>
          </p:cNvPr>
          <p:cNvSpPr>
            <a:spLocks noGrp="1"/>
          </p:cNvSpPr>
          <p:nvPr>
            <p:ph type="dt" sz="half" idx="2"/>
          </p:nvPr>
        </p:nvSpPr>
        <p:spPr/>
        <p:txBody>
          <a:bodyPr/>
          <a:lstStyle/>
          <a:p>
            <a:fld id="{ACF5EF15-2C16-6A49-87B6-C5AFB945A04B}" type="datetime1">
              <a:rPr lang="de-DE" smtClean="0"/>
              <a:pPr/>
              <a:t>12.05.26</a:t>
            </a:fld>
            <a:endParaRPr lang="en-US" dirty="0"/>
          </a:p>
        </p:txBody>
      </p:sp>
      <p:sp>
        <p:nvSpPr>
          <p:cNvPr id="6" name="Foliennummernplatzhalter 5">
            <a:extLst>
              <a:ext uri="{FF2B5EF4-FFF2-40B4-BE49-F238E27FC236}">
                <a16:creationId xmlns:a16="http://schemas.microsoft.com/office/drawing/2014/main" id="{498C5FA8-A45A-444A-8CAA-419FD537DFB0}"/>
              </a:ext>
            </a:extLst>
          </p:cNvPr>
          <p:cNvSpPr>
            <a:spLocks noGrp="1"/>
          </p:cNvSpPr>
          <p:nvPr>
            <p:ph type="sldNum" sz="quarter" idx="4"/>
          </p:nvPr>
        </p:nvSpPr>
        <p:spPr/>
        <p:txBody>
          <a:bodyPr/>
          <a:lstStyle/>
          <a:p>
            <a:fld id="{B6F15528-21DE-4FAA-801E-634DDDAF4B2B}" type="slidenum">
              <a:rPr lang="de-DE" smtClean="0"/>
              <a:pPr/>
              <a:t>2</a:t>
            </a:fld>
            <a:endParaRPr lang="de-DE" dirty="0"/>
          </a:p>
        </p:txBody>
      </p:sp>
      <p:sp>
        <p:nvSpPr>
          <p:cNvPr id="7" name="Textplatzhalter 6">
            <a:extLst>
              <a:ext uri="{FF2B5EF4-FFF2-40B4-BE49-F238E27FC236}">
                <a16:creationId xmlns:a16="http://schemas.microsoft.com/office/drawing/2014/main" id="{21E532AF-8EF0-46DF-A410-71C9CCBD9429}"/>
              </a:ext>
            </a:extLst>
          </p:cNvPr>
          <p:cNvSpPr>
            <a:spLocks noGrp="1"/>
          </p:cNvSpPr>
          <p:nvPr>
            <p:ph type="body" sz="quarter" idx="12"/>
          </p:nvPr>
        </p:nvSpPr>
        <p:spPr/>
        <p:txBody>
          <a:bodyPr/>
          <a:lstStyle/>
          <a:p>
            <a:r>
              <a:rPr lang="de-DE" dirty="0"/>
              <a:t>Xianghan Cao &amp; Benedict Schmitt</a:t>
            </a:r>
          </a:p>
        </p:txBody>
      </p:sp>
      <p:pic>
        <p:nvPicPr>
          <p:cNvPr id="8" name="Picture 2" descr="University of Oulu - Wikipedia">
            <a:extLst>
              <a:ext uri="{FF2B5EF4-FFF2-40B4-BE49-F238E27FC236}">
                <a16:creationId xmlns:a16="http://schemas.microsoft.com/office/drawing/2014/main" id="{DD5DA20B-755F-452B-AD04-6FDEE072B8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936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C8B370-94FD-4E32-A164-77C78B6BE873}"/>
              </a:ext>
            </a:extLst>
          </p:cNvPr>
          <p:cNvSpPr>
            <a:spLocks noGrp="1"/>
          </p:cNvSpPr>
          <p:nvPr>
            <p:ph type="title"/>
          </p:nvPr>
        </p:nvSpPr>
        <p:spPr/>
        <p:txBody>
          <a:bodyPr/>
          <a:lstStyle/>
          <a:p>
            <a:pPr algn="l"/>
            <a:r>
              <a:rPr lang="en-GB" sz="2800" dirty="0"/>
              <a:t>The Title</a:t>
            </a:r>
          </a:p>
        </p:txBody>
      </p:sp>
      <p:sp>
        <p:nvSpPr>
          <p:cNvPr id="3" name="Textplatzhalter 2">
            <a:extLst>
              <a:ext uri="{FF2B5EF4-FFF2-40B4-BE49-F238E27FC236}">
                <a16:creationId xmlns:a16="http://schemas.microsoft.com/office/drawing/2014/main" id="{065824FD-21BB-4CC2-A4F9-11235CEE176E}"/>
              </a:ext>
            </a:extLst>
          </p:cNvPr>
          <p:cNvSpPr>
            <a:spLocks noGrp="1"/>
          </p:cNvSpPr>
          <p:nvPr>
            <p:ph type="body" idx="1"/>
          </p:nvPr>
        </p:nvSpPr>
        <p:spPr>
          <a:xfrm>
            <a:off x="660800" y="1995686"/>
            <a:ext cx="3263128" cy="3136994"/>
          </a:xfrm>
        </p:spPr>
        <p:txBody>
          <a:bodyPr/>
          <a:lstStyle/>
          <a:p>
            <a:r>
              <a:rPr lang="en-US" u="sng" dirty="0">
                <a:solidFill>
                  <a:schemeClr val="tx2"/>
                </a:solidFill>
                <a:ea typeface="+mj-ea"/>
              </a:rPr>
              <a:t>What’s working:</a:t>
            </a:r>
            <a:endParaRPr lang="en-US" sz="1800" dirty="0"/>
          </a:p>
          <a:p>
            <a:pPr marL="342900" indent="-342900">
              <a:buFont typeface="Arial" panose="020B0604020202020204" pitchFamily="34" charset="0"/>
              <a:buChar char="•"/>
            </a:pPr>
            <a:r>
              <a:rPr lang="en-US" sz="1800" dirty="0"/>
              <a:t>“</a:t>
            </a:r>
            <a:r>
              <a:rPr lang="en-US" sz="1800" dirty="0" err="1"/>
              <a:t>Topic:Setting</a:t>
            </a:r>
            <a:r>
              <a:rPr lang="en-US" sz="1800" dirty="0"/>
              <a:t>” format, is established and professional</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“Evidence from…” format, signals an exogenous shock and credible identification</a:t>
            </a:r>
          </a:p>
        </p:txBody>
      </p:sp>
      <p:sp>
        <p:nvSpPr>
          <p:cNvPr id="4" name="Fußzeilenplatzhalter 3">
            <a:extLst>
              <a:ext uri="{FF2B5EF4-FFF2-40B4-BE49-F238E27FC236}">
                <a16:creationId xmlns:a16="http://schemas.microsoft.com/office/drawing/2014/main" id="{C4BF367D-47AA-4BDB-BFCE-F3AB8749D86F}"/>
              </a:ext>
            </a:extLst>
          </p:cNvPr>
          <p:cNvSpPr>
            <a:spLocks noGrp="1"/>
          </p:cNvSpPr>
          <p:nvPr>
            <p:ph type="ftr" sz="quarter" idx="3"/>
          </p:nvPr>
        </p:nvSpPr>
        <p:spPr/>
        <p:txBody>
          <a:bodyPr/>
          <a:lstStyle/>
          <a:p>
            <a:r>
              <a:rPr lang="de-DE" dirty="0"/>
              <a:t>University </a:t>
            </a:r>
            <a:r>
              <a:rPr lang="de-DE" dirty="0" err="1"/>
              <a:t>of</a:t>
            </a:r>
            <a:r>
              <a:rPr lang="de-DE" dirty="0"/>
              <a:t> </a:t>
            </a:r>
            <a:r>
              <a:rPr lang="de-DE" dirty="0" err="1"/>
              <a:t>Goettingen</a:t>
            </a:r>
            <a:r>
              <a:rPr lang="de-DE" dirty="0"/>
              <a:t> &amp; University </a:t>
            </a:r>
            <a:r>
              <a:rPr lang="de-DE" dirty="0" err="1"/>
              <a:t>of</a:t>
            </a:r>
            <a:r>
              <a:rPr lang="de-DE" dirty="0"/>
              <a:t> Oulu</a:t>
            </a:r>
          </a:p>
        </p:txBody>
      </p:sp>
      <p:sp>
        <p:nvSpPr>
          <p:cNvPr id="5" name="Datumsplatzhalter 4">
            <a:extLst>
              <a:ext uri="{FF2B5EF4-FFF2-40B4-BE49-F238E27FC236}">
                <a16:creationId xmlns:a16="http://schemas.microsoft.com/office/drawing/2014/main" id="{F3B126D7-DB4D-4070-8DFA-CEA326BB47AC}"/>
              </a:ext>
            </a:extLst>
          </p:cNvPr>
          <p:cNvSpPr>
            <a:spLocks noGrp="1"/>
          </p:cNvSpPr>
          <p:nvPr>
            <p:ph type="dt" sz="half" idx="2"/>
          </p:nvPr>
        </p:nvSpPr>
        <p:spPr/>
        <p:txBody>
          <a:bodyPr/>
          <a:lstStyle/>
          <a:p>
            <a:fld id="{ACF5EF15-2C16-6A49-87B6-C5AFB945A04B}" type="datetime1">
              <a:rPr lang="de-DE" smtClean="0"/>
              <a:pPr/>
              <a:t>12.05.26</a:t>
            </a:fld>
            <a:endParaRPr lang="en-US" dirty="0"/>
          </a:p>
        </p:txBody>
      </p:sp>
      <p:sp>
        <p:nvSpPr>
          <p:cNvPr id="6" name="Foliennummernplatzhalter 5">
            <a:extLst>
              <a:ext uri="{FF2B5EF4-FFF2-40B4-BE49-F238E27FC236}">
                <a16:creationId xmlns:a16="http://schemas.microsoft.com/office/drawing/2014/main" id="{498C5FA8-A45A-444A-8CAA-419FD537DFB0}"/>
              </a:ext>
            </a:extLst>
          </p:cNvPr>
          <p:cNvSpPr>
            <a:spLocks noGrp="1"/>
          </p:cNvSpPr>
          <p:nvPr>
            <p:ph type="sldNum" sz="quarter" idx="4"/>
          </p:nvPr>
        </p:nvSpPr>
        <p:spPr/>
        <p:txBody>
          <a:bodyPr/>
          <a:lstStyle/>
          <a:p>
            <a:fld id="{B6F15528-21DE-4FAA-801E-634DDDAF4B2B}" type="slidenum">
              <a:rPr lang="de-DE" smtClean="0"/>
              <a:pPr/>
              <a:t>3</a:t>
            </a:fld>
            <a:endParaRPr lang="de-DE" dirty="0"/>
          </a:p>
        </p:txBody>
      </p:sp>
      <p:sp>
        <p:nvSpPr>
          <p:cNvPr id="7" name="Textplatzhalter 6">
            <a:extLst>
              <a:ext uri="{FF2B5EF4-FFF2-40B4-BE49-F238E27FC236}">
                <a16:creationId xmlns:a16="http://schemas.microsoft.com/office/drawing/2014/main" id="{21E532AF-8EF0-46DF-A410-71C9CCBD9429}"/>
              </a:ext>
            </a:extLst>
          </p:cNvPr>
          <p:cNvSpPr>
            <a:spLocks noGrp="1"/>
          </p:cNvSpPr>
          <p:nvPr>
            <p:ph type="body" sz="quarter" idx="12"/>
          </p:nvPr>
        </p:nvSpPr>
        <p:spPr/>
        <p:txBody>
          <a:bodyPr/>
          <a:lstStyle/>
          <a:p>
            <a:r>
              <a:rPr lang="de-DE" dirty="0"/>
              <a:t>Xianghan Cao &amp; Benedict Schmitt</a:t>
            </a:r>
          </a:p>
        </p:txBody>
      </p:sp>
      <p:pic>
        <p:nvPicPr>
          <p:cNvPr id="8" name="Picture 2" descr="University of Oulu - Wikipedia">
            <a:extLst>
              <a:ext uri="{FF2B5EF4-FFF2-40B4-BE49-F238E27FC236}">
                <a16:creationId xmlns:a16="http://schemas.microsoft.com/office/drawing/2014/main" id="{DD5DA20B-755F-452B-AD04-6FDEE072B8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platzhalter 2">
            <a:extLst>
              <a:ext uri="{FF2B5EF4-FFF2-40B4-BE49-F238E27FC236}">
                <a16:creationId xmlns:a16="http://schemas.microsoft.com/office/drawing/2014/main" id="{3D02CF94-07B1-4378-B56E-15F3B76BCB84}"/>
              </a:ext>
            </a:extLst>
          </p:cNvPr>
          <p:cNvSpPr txBox="1">
            <a:spLocks/>
          </p:cNvSpPr>
          <p:nvPr/>
        </p:nvSpPr>
        <p:spPr>
          <a:xfrm>
            <a:off x="5220074" y="1995686"/>
            <a:ext cx="3263128" cy="3136994"/>
          </a:xfrm>
          <a:prstGeom prst="rect">
            <a:avLst/>
          </a:prstGeom>
        </p:spPr>
        <p:txBody>
          <a:bodyPr lIns="0" tIns="0" rIns="0" bIns="0"/>
          <a:lstStyle>
            <a:lvl1pPr marL="0">
              <a:defRPr sz="2000" b="0" i="0">
                <a:solidFill>
                  <a:schemeClr val="accent6"/>
                </a:solidFill>
                <a:latin typeface="+mj-lt"/>
                <a:ea typeface="+mn-ea"/>
                <a:cs typeface=""/>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US" u="sng" kern="0" dirty="0">
                <a:solidFill>
                  <a:schemeClr val="tx2"/>
                </a:solidFill>
                <a:ea typeface="+mj-ea"/>
              </a:rPr>
              <a:t>What’s not working:</a:t>
            </a:r>
            <a:endParaRPr lang="en-US" sz="1800" kern="0" dirty="0"/>
          </a:p>
          <a:p>
            <a:pPr marL="342900" indent="-342900" defTabSz="914400">
              <a:buFont typeface="Arial" panose="020B0604020202020204" pitchFamily="34" charset="0"/>
              <a:buChar char="•"/>
            </a:pPr>
            <a:r>
              <a:rPr lang="en-US" sz="1800" kern="0" dirty="0"/>
              <a:t>Punchline, Title neither has thesis nor tension</a:t>
            </a:r>
          </a:p>
          <a:p>
            <a:pPr defTabSz="914400"/>
            <a:r>
              <a:rPr lang="en-US" sz="1800" kern="0" dirty="0"/>
              <a:t>But: Paper has two linked findings, hard to compress into one line</a:t>
            </a:r>
          </a:p>
          <a:p>
            <a:pPr defTabSz="914400"/>
            <a:endParaRPr lang="en-US" sz="1800" kern="0" dirty="0"/>
          </a:p>
          <a:p>
            <a:pPr marL="342900" indent="-342900" defTabSz="914400">
              <a:buFont typeface="Arial" panose="020B0604020202020204" pitchFamily="34" charset="0"/>
              <a:buChar char="•"/>
            </a:pPr>
            <a:r>
              <a:rPr lang="en-US" sz="1800" kern="0" dirty="0"/>
              <a:t>Precision, “CEO Incentives” is too generic and might trigger wrong expectations</a:t>
            </a:r>
          </a:p>
        </p:txBody>
      </p:sp>
      <p:pic>
        <p:nvPicPr>
          <p:cNvPr id="12" name="Grafik 11">
            <a:extLst>
              <a:ext uri="{FF2B5EF4-FFF2-40B4-BE49-F238E27FC236}">
                <a16:creationId xmlns:a16="http://schemas.microsoft.com/office/drawing/2014/main" id="{830F7559-A87F-4A54-ACEB-516D272C4C22}"/>
              </a:ext>
            </a:extLst>
          </p:cNvPr>
          <p:cNvPicPr>
            <a:picLocks noChangeAspect="1"/>
          </p:cNvPicPr>
          <p:nvPr/>
        </p:nvPicPr>
        <p:blipFill>
          <a:blip r:embed="rId4"/>
          <a:stretch>
            <a:fillRect/>
          </a:stretch>
        </p:blipFill>
        <p:spPr>
          <a:xfrm>
            <a:off x="1999724" y="1419622"/>
            <a:ext cx="4945429" cy="476832"/>
          </a:xfrm>
          <a:prstGeom prst="rect">
            <a:avLst/>
          </a:prstGeom>
        </p:spPr>
      </p:pic>
    </p:spTree>
    <p:extLst>
      <p:ext uri="{BB962C8B-B14F-4D97-AF65-F5344CB8AC3E}">
        <p14:creationId xmlns:p14="http://schemas.microsoft.com/office/powerpoint/2010/main" val="3494991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C8B370-94FD-4E32-A164-77C78B6BE873}"/>
              </a:ext>
            </a:extLst>
          </p:cNvPr>
          <p:cNvSpPr>
            <a:spLocks noGrp="1"/>
          </p:cNvSpPr>
          <p:nvPr>
            <p:ph type="title"/>
          </p:nvPr>
        </p:nvSpPr>
        <p:spPr/>
        <p:txBody>
          <a:bodyPr/>
          <a:lstStyle/>
          <a:p>
            <a:pPr algn="l"/>
            <a:r>
              <a:rPr lang="en-GB" sz="2800" dirty="0"/>
              <a:t>The Abstract</a:t>
            </a:r>
          </a:p>
        </p:txBody>
      </p:sp>
      <p:sp>
        <p:nvSpPr>
          <p:cNvPr id="3" name="Textplatzhalter 2">
            <a:extLst>
              <a:ext uri="{FF2B5EF4-FFF2-40B4-BE49-F238E27FC236}">
                <a16:creationId xmlns:a16="http://schemas.microsoft.com/office/drawing/2014/main" id="{065824FD-21BB-4CC2-A4F9-11235CEE176E}"/>
              </a:ext>
            </a:extLst>
          </p:cNvPr>
          <p:cNvSpPr>
            <a:spLocks noGrp="1"/>
          </p:cNvSpPr>
          <p:nvPr>
            <p:ph type="body" idx="1"/>
          </p:nvPr>
        </p:nvSpPr>
        <p:spPr>
          <a:xfrm>
            <a:off x="660800" y="1995686"/>
            <a:ext cx="3263128" cy="3136994"/>
          </a:xfrm>
        </p:spPr>
        <p:txBody>
          <a:bodyPr/>
          <a:lstStyle/>
          <a:p>
            <a:r>
              <a:rPr lang="en-US" u="sng" dirty="0">
                <a:solidFill>
                  <a:schemeClr val="tx2"/>
                </a:solidFill>
                <a:ea typeface="+mj-ea"/>
              </a:rPr>
              <a:t>What’s working:</a:t>
            </a:r>
            <a:endParaRPr lang="en-US" sz="1800" dirty="0"/>
          </a:p>
          <a:p>
            <a:pPr marL="342900" indent="-342900">
              <a:buFont typeface="Arial" panose="020B0604020202020204" pitchFamily="34" charset="0"/>
              <a:buChar char="•"/>
            </a:pPr>
            <a:r>
              <a:rPr lang="en-US" sz="1800" dirty="0"/>
              <a:t>Results-only, direct opening is catchy</a:t>
            </a:r>
          </a:p>
          <a:p>
            <a:pPr marL="342900" indent="-342900">
              <a:buFont typeface="Arial" panose="020B0604020202020204" pitchFamily="34" charset="0"/>
              <a:buChar char="•"/>
            </a:pPr>
            <a:r>
              <a:rPr lang="en-US" sz="1800" dirty="0"/>
              <a:t>One-sentence spelled out mechanism (S2), cause </a:t>
            </a:r>
            <a:r>
              <a:rPr lang="en-US" sz="1800" dirty="0">
                <a:sym typeface="Wingdings" panose="05000000000000000000" pitchFamily="2" charset="2"/>
              </a:rPr>
              <a:t></a:t>
            </a:r>
            <a:r>
              <a:rPr lang="en-US" sz="1800" dirty="0"/>
              <a:t> behavior </a:t>
            </a:r>
            <a:r>
              <a:rPr lang="en-US" sz="1800" dirty="0">
                <a:sym typeface="Wingdings" panose="05000000000000000000" pitchFamily="2" charset="2"/>
              </a:rPr>
              <a:t></a:t>
            </a:r>
            <a:r>
              <a:rPr lang="en-US" sz="1800" dirty="0"/>
              <a:t> reason</a:t>
            </a:r>
          </a:p>
          <a:p>
            <a:pPr marL="342900" indent="-342900">
              <a:buFont typeface="Arial" panose="020B0604020202020204" pitchFamily="34" charset="0"/>
              <a:buChar char="•"/>
            </a:pPr>
            <a:r>
              <a:rPr lang="en-US" sz="1800" dirty="0"/>
              <a:t>Symmetric contrast (S3), makes the four statements easy memorable</a:t>
            </a:r>
          </a:p>
        </p:txBody>
      </p:sp>
      <p:sp>
        <p:nvSpPr>
          <p:cNvPr id="4" name="Fußzeilenplatzhalter 3">
            <a:extLst>
              <a:ext uri="{FF2B5EF4-FFF2-40B4-BE49-F238E27FC236}">
                <a16:creationId xmlns:a16="http://schemas.microsoft.com/office/drawing/2014/main" id="{C4BF367D-47AA-4BDB-BFCE-F3AB8749D86F}"/>
              </a:ext>
            </a:extLst>
          </p:cNvPr>
          <p:cNvSpPr>
            <a:spLocks noGrp="1"/>
          </p:cNvSpPr>
          <p:nvPr>
            <p:ph type="ftr" sz="quarter" idx="3"/>
          </p:nvPr>
        </p:nvSpPr>
        <p:spPr/>
        <p:txBody>
          <a:bodyPr/>
          <a:lstStyle/>
          <a:p>
            <a:r>
              <a:rPr lang="de-DE" dirty="0"/>
              <a:t>University </a:t>
            </a:r>
            <a:r>
              <a:rPr lang="de-DE" dirty="0" err="1"/>
              <a:t>of</a:t>
            </a:r>
            <a:r>
              <a:rPr lang="de-DE" dirty="0"/>
              <a:t> </a:t>
            </a:r>
            <a:r>
              <a:rPr lang="de-DE" dirty="0" err="1"/>
              <a:t>Goettingen</a:t>
            </a:r>
            <a:r>
              <a:rPr lang="de-DE" dirty="0"/>
              <a:t> &amp; University </a:t>
            </a:r>
            <a:r>
              <a:rPr lang="de-DE" dirty="0" err="1"/>
              <a:t>of</a:t>
            </a:r>
            <a:r>
              <a:rPr lang="de-DE" dirty="0"/>
              <a:t> Oulu</a:t>
            </a:r>
          </a:p>
        </p:txBody>
      </p:sp>
      <p:sp>
        <p:nvSpPr>
          <p:cNvPr id="5" name="Datumsplatzhalter 4">
            <a:extLst>
              <a:ext uri="{FF2B5EF4-FFF2-40B4-BE49-F238E27FC236}">
                <a16:creationId xmlns:a16="http://schemas.microsoft.com/office/drawing/2014/main" id="{F3B126D7-DB4D-4070-8DFA-CEA326BB47AC}"/>
              </a:ext>
            </a:extLst>
          </p:cNvPr>
          <p:cNvSpPr>
            <a:spLocks noGrp="1"/>
          </p:cNvSpPr>
          <p:nvPr>
            <p:ph type="dt" sz="half" idx="2"/>
          </p:nvPr>
        </p:nvSpPr>
        <p:spPr/>
        <p:txBody>
          <a:bodyPr/>
          <a:lstStyle/>
          <a:p>
            <a:fld id="{ACF5EF15-2C16-6A49-87B6-C5AFB945A04B}" type="datetime1">
              <a:rPr lang="de-DE" smtClean="0"/>
              <a:pPr/>
              <a:t>12.05.26</a:t>
            </a:fld>
            <a:endParaRPr lang="en-US" dirty="0"/>
          </a:p>
        </p:txBody>
      </p:sp>
      <p:sp>
        <p:nvSpPr>
          <p:cNvPr id="6" name="Foliennummernplatzhalter 5">
            <a:extLst>
              <a:ext uri="{FF2B5EF4-FFF2-40B4-BE49-F238E27FC236}">
                <a16:creationId xmlns:a16="http://schemas.microsoft.com/office/drawing/2014/main" id="{498C5FA8-A45A-444A-8CAA-419FD537DFB0}"/>
              </a:ext>
            </a:extLst>
          </p:cNvPr>
          <p:cNvSpPr>
            <a:spLocks noGrp="1"/>
          </p:cNvSpPr>
          <p:nvPr>
            <p:ph type="sldNum" sz="quarter" idx="4"/>
          </p:nvPr>
        </p:nvSpPr>
        <p:spPr/>
        <p:txBody>
          <a:bodyPr/>
          <a:lstStyle/>
          <a:p>
            <a:fld id="{B6F15528-21DE-4FAA-801E-634DDDAF4B2B}" type="slidenum">
              <a:rPr lang="de-DE" smtClean="0"/>
              <a:pPr/>
              <a:t>4</a:t>
            </a:fld>
            <a:endParaRPr lang="de-DE" dirty="0"/>
          </a:p>
        </p:txBody>
      </p:sp>
      <p:sp>
        <p:nvSpPr>
          <p:cNvPr id="7" name="Textplatzhalter 6">
            <a:extLst>
              <a:ext uri="{FF2B5EF4-FFF2-40B4-BE49-F238E27FC236}">
                <a16:creationId xmlns:a16="http://schemas.microsoft.com/office/drawing/2014/main" id="{21E532AF-8EF0-46DF-A410-71C9CCBD9429}"/>
              </a:ext>
            </a:extLst>
          </p:cNvPr>
          <p:cNvSpPr>
            <a:spLocks noGrp="1"/>
          </p:cNvSpPr>
          <p:nvPr>
            <p:ph type="body" sz="quarter" idx="12"/>
          </p:nvPr>
        </p:nvSpPr>
        <p:spPr/>
        <p:txBody>
          <a:bodyPr/>
          <a:lstStyle/>
          <a:p>
            <a:r>
              <a:rPr lang="de-DE" dirty="0"/>
              <a:t>Xianghan Cao &amp; Benedict Schmitt</a:t>
            </a:r>
          </a:p>
        </p:txBody>
      </p:sp>
      <p:pic>
        <p:nvPicPr>
          <p:cNvPr id="8" name="Picture 2" descr="University of Oulu - Wikipedia">
            <a:extLst>
              <a:ext uri="{FF2B5EF4-FFF2-40B4-BE49-F238E27FC236}">
                <a16:creationId xmlns:a16="http://schemas.microsoft.com/office/drawing/2014/main" id="{DD5DA20B-755F-452B-AD04-6FDEE072B8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platzhalter 2">
            <a:extLst>
              <a:ext uri="{FF2B5EF4-FFF2-40B4-BE49-F238E27FC236}">
                <a16:creationId xmlns:a16="http://schemas.microsoft.com/office/drawing/2014/main" id="{3D02CF94-07B1-4378-B56E-15F3B76BCB84}"/>
              </a:ext>
            </a:extLst>
          </p:cNvPr>
          <p:cNvSpPr txBox="1">
            <a:spLocks/>
          </p:cNvSpPr>
          <p:nvPr/>
        </p:nvSpPr>
        <p:spPr>
          <a:xfrm>
            <a:off x="5220074" y="1995686"/>
            <a:ext cx="3263128" cy="3136994"/>
          </a:xfrm>
          <a:prstGeom prst="rect">
            <a:avLst/>
          </a:prstGeom>
        </p:spPr>
        <p:txBody>
          <a:bodyPr lIns="0" tIns="0" rIns="0" bIns="0"/>
          <a:lstStyle>
            <a:lvl1pPr marL="0">
              <a:defRPr sz="2000" b="0" i="0">
                <a:solidFill>
                  <a:schemeClr val="accent6"/>
                </a:solidFill>
                <a:latin typeface="+mj-lt"/>
                <a:ea typeface="+mn-ea"/>
                <a:cs typeface=""/>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US" u="sng" kern="0" dirty="0">
                <a:solidFill>
                  <a:schemeClr val="tx2"/>
                </a:solidFill>
                <a:ea typeface="+mj-ea"/>
              </a:rPr>
              <a:t>What’s not working:</a:t>
            </a:r>
            <a:endParaRPr lang="en-US" sz="1800" kern="0" dirty="0"/>
          </a:p>
          <a:p>
            <a:pPr marL="342900" indent="-342900" defTabSz="914400">
              <a:buFont typeface="Arial" panose="020B0604020202020204" pitchFamily="34" charset="0"/>
              <a:buChar char="•"/>
            </a:pPr>
            <a:r>
              <a:rPr lang="en-US" sz="1800" kern="0" dirty="0"/>
              <a:t>Hedging opener (S1), makes the paper look boring</a:t>
            </a:r>
          </a:p>
          <a:p>
            <a:pPr marL="342900" indent="-342900" defTabSz="914400">
              <a:buFont typeface="Arial" panose="020B0604020202020204" pitchFamily="34" charset="0"/>
              <a:buChar char="•"/>
            </a:pPr>
            <a:r>
              <a:rPr lang="en-US" sz="1800" kern="0" dirty="0"/>
              <a:t>Overloading (S1), makes it impossible to remember all claims</a:t>
            </a:r>
          </a:p>
        </p:txBody>
      </p:sp>
      <p:sp>
        <p:nvSpPr>
          <p:cNvPr id="9" name="Rechteck 8">
            <a:extLst>
              <a:ext uri="{FF2B5EF4-FFF2-40B4-BE49-F238E27FC236}">
                <a16:creationId xmlns:a16="http://schemas.microsoft.com/office/drawing/2014/main" id="{0F9361B6-896E-4D1B-AA7F-ECA87E4BDABF}"/>
              </a:ext>
            </a:extLst>
          </p:cNvPr>
          <p:cNvSpPr/>
          <p:nvPr/>
        </p:nvSpPr>
        <p:spPr>
          <a:xfrm>
            <a:off x="660800" y="1563638"/>
            <a:ext cx="7822400" cy="29523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a:extLst>
              <a:ext uri="{FF2B5EF4-FFF2-40B4-BE49-F238E27FC236}">
                <a16:creationId xmlns:a16="http://schemas.microsoft.com/office/drawing/2014/main" id="{4EE88170-4036-484C-862D-0550A626A156}"/>
              </a:ext>
            </a:extLst>
          </p:cNvPr>
          <p:cNvPicPr>
            <a:picLocks noChangeAspect="1"/>
          </p:cNvPicPr>
          <p:nvPr/>
        </p:nvPicPr>
        <p:blipFill>
          <a:blip r:embed="rId4"/>
          <a:stretch>
            <a:fillRect/>
          </a:stretch>
        </p:blipFill>
        <p:spPr>
          <a:xfrm>
            <a:off x="490860" y="1598195"/>
            <a:ext cx="8162279" cy="2197962"/>
          </a:xfrm>
          <a:prstGeom prst="rect">
            <a:avLst/>
          </a:prstGeom>
        </p:spPr>
      </p:pic>
    </p:spTree>
    <p:extLst>
      <p:ext uri="{BB962C8B-B14F-4D97-AF65-F5344CB8AC3E}">
        <p14:creationId xmlns:p14="http://schemas.microsoft.com/office/powerpoint/2010/main" val="3984861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C8B370-94FD-4E32-A164-77C78B6BE873}"/>
              </a:ext>
            </a:extLst>
          </p:cNvPr>
          <p:cNvSpPr>
            <a:spLocks noGrp="1"/>
          </p:cNvSpPr>
          <p:nvPr>
            <p:ph type="title"/>
          </p:nvPr>
        </p:nvSpPr>
        <p:spPr/>
        <p:txBody>
          <a:bodyPr/>
          <a:lstStyle/>
          <a:p>
            <a:pPr algn="l"/>
            <a:r>
              <a:rPr lang="en-GB" sz="2800" dirty="0"/>
              <a:t>The Abstract</a:t>
            </a:r>
          </a:p>
        </p:txBody>
      </p:sp>
      <p:sp>
        <p:nvSpPr>
          <p:cNvPr id="3" name="Textplatzhalter 2">
            <a:extLst>
              <a:ext uri="{FF2B5EF4-FFF2-40B4-BE49-F238E27FC236}">
                <a16:creationId xmlns:a16="http://schemas.microsoft.com/office/drawing/2014/main" id="{065824FD-21BB-4CC2-A4F9-11235CEE176E}"/>
              </a:ext>
            </a:extLst>
          </p:cNvPr>
          <p:cNvSpPr>
            <a:spLocks noGrp="1"/>
          </p:cNvSpPr>
          <p:nvPr>
            <p:ph type="body" idx="1"/>
          </p:nvPr>
        </p:nvSpPr>
        <p:spPr>
          <a:xfrm>
            <a:off x="660800" y="1995686"/>
            <a:ext cx="3263128" cy="3136994"/>
          </a:xfrm>
        </p:spPr>
        <p:txBody>
          <a:bodyPr/>
          <a:lstStyle/>
          <a:p>
            <a:r>
              <a:rPr lang="en-US" u="sng" dirty="0">
                <a:solidFill>
                  <a:schemeClr val="tx2"/>
                </a:solidFill>
                <a:ea typeface="+mj-ea"/>
              </a:rPr>
              <a:t>What’s working:</a:t>
            </a:r>
            <a:endParaRPr lang="en-US" sz="1800" dirty="0"/>
          </a:p>
          <a:p>
            <a:pPr marL="342900" indent="-342900">
              <a:buFont typeface="Arial" panose="020B0604020202020204" pitchFamily="34" charset="0"/>
              <a:buChar char="•"/>
            </a:pPr>
            <a:r>
              <a:rPr lang="en-US" sz="1800" dirty="0"/>
              <a:t>Results-only, direct opening is catchy</a:t>
            </a:r>
          </a:p>
          <a:p>
            <a:pPr marL="342900" indent="-342900">
              <a:buFont typeface="Arial" panose="020B0604020202020204" pitchFamily="34" charset="0"/>
              <a:buChar char="•"/>
            </a:pPr>
            <a:r>
              <a:rPr lang="en-US" sz="1800" dirty="0"/>
              <a:t>One-sentence spelled out mechanism (S2), cause </a:t>
            </a:r>
            <a:r>
              <a:rPr lang="en-US" sz="1800" dirty="0">
                <a:sym typeface="Wingdings" panose="05000000000000000000" pitchFamily="2" charset="2"/>
              </a:rPr>
              <a:t></a:t>
            </a:r>
            <a:r>
              <a:rPr lang="en-US" sz="1800" dirty="0"/>
              <a:t> behavior </a:t>
            </a:r>
            <a:r>
              <a:rPr lang="en-US" sz="1800" dirty="0">
                <a:sym typeface="Wingdings" panose="05000000000000000000" pitchFamily="2" charset="2"/>
              </a:rPr>
              <a:t></a:t>
            </a:r>
            <a:r>
              <a:rPr lang="en-US" sz="1800" dirty="0"/>
              <a:t> reason</a:t>
            </a:r>
          </a:p>
          <a:p>
            <a:pPr marL="342900" indent="-342900">
              <a:buFont typeface="Arial" panose="020B0604020202020204" pitchFamily="34" charset="0"/>
              <a:buChar char="•"/>
            </a:pPr>
            <a:r>
              <a:rPr lang="en-US" sz="1800" dirty="0"/>
              <a:t>Symmetric contrast (S3), makes the four statements easy memorable</a:t>
            </a:r>
          </a:p>
        </p:txBody>
      </p:sp>
      <p:sp>
        <p:nvSpPr>
          <p:cNvPr id="4" name="Fußzeilenplatzhalter 3">
            <a:extLst>
              <a:ext uri="{FF2B5EF4-FFF2-40B4-BE49-F238E27FC236}">
                <a16:creationId xmlns:a16="http://schemas.microsoft.com/office/drawing/2014/main" id="{C4BF367D-47AA-4BDB-BFCE-F3AB8749D86F}"/>
              </a:ext>
            </a:extLst>
          </p:cNvPr>
          <p:cNvSpPr>
            <a:spLocks noGrp="1"/>
          </p:cNvSpPr>
          <p:nvPr>
            <p:ph type="ftr" sz="quarter" idx="3"/>
          </p:nvPr>
        </p:nvSpPr>
        <p:spPr/>
        <p:txBody>
          <a:bodyPr/>
          <a:lstStyle/>
          <a:p>
            <a:r>
              <a:rPr lang="de-DE" dirty="0"/>
              <a:t>University </a:t>
            </a:r>
            <a:r>
              <a:rPr lang="de-DE" dirty="0" err="1"/>
              <a:t>of</a:t>
            </a:r>
            <a:r>
              <a:rPr lang="de-DE" dirty="0"/>
              <a:t> </a:t>
            </a:r>
            <a:r>
              <a:rPr lang="de-DE" dirty="0" err="1"/>
              <a:t>Goettingen</a:t>
            </a:r>
            <a:r>
              <a:rPr lang="de-DE" dirty="0"/>
              <a:t> &amp; University </a:t>
            </a:r>
            <a:r>
              <a:rPr lang="de-DE" dirty="0" err="1"/>
              <a:t>of</a:t>
            </a:r>
            <a:r>
              <a:rPr lang="de-DE" dirty="0"/>
              <a:t> Oulu</a:t>
            </a:r>
          </a:p>
        </p:txBody>
      </p:sp>
      <p:sp>
        <p:nvSpPr>
          <p:cNvPr id="5" name="Datumsplatzhalter 4">
            <a:extLst>
              <a:ext uri="{FF2B5EF4-FFF2-40B4-BE49-F238E27FC236}">
                <a16:creationId xmlns:a16="http://schemas.microsoft.com/office/drawing/2014/main" id="{F3B126D7-DB4D-4070-8DFA-CEA326BB47AC}"/>
              </a:ext>
            </a:extLst>
          </p:cNvPr>
          <p:cNvSpPr>
            <a:spLocks noGrp="1"/>
          </p:cNvSpPr>
          <p:nvPr>
            <p:ph type="dt" sz="half" idx="2"/>
          </p:nvPr>
        </p:nvSpPr>
        <p:spPr/>
        <p:txBody>
          <a:bodyPr/>
          <a:lstStyle/>
          <a:p>
            <a:fld id="{ACF5EF15-2C16-6A49-87B6-C5AFB945A04B}" type="datetime1">
              <a:rPr lang="de-DE" smtClean="0"/>
              <a:pPr/>
              <a:t>12.05.26</a:t>
            </a:fld>
            <a:endParaRPr lang="en-US" dirty="0"/>
          </a:p>
        </p:txBody>
      </p:sp>
      <p:sp>
        <p:nvSpPr>
          <p:cNvPr id="6" name="Foliennummernplatzhalter 5">
            <a:extLst>
              <a:ext uri="{FF2B5EF4-FFF2-40B4-BE49-F238E27FC236}">
                <a16:creationId xmlns:a16="http://schemas.microsoft.com/office/drawing/2014/main" id="{498C5FA8-A45A-444A-8CAA-419FD537DFB0}"/>
              </a:ext>
            </a:extLst>
          </p:cNvPr>
          <p:cNvSpPr>
            <a:spLocks noGrp="1"/>
          </p:cNvSpPr>
          <p:nvPr>
            <p:ph type="sldNum" sz="quarter" idx="4"/>
          </p:nvPr>
        </p:nvSpPr>
        <p:spPr/>
        <p:txBody>
          <a:bodyPr/>
          <a:lstStyle/>
          <a:p>
            <a:fld id="{B6F15528-21DE-4FAA-801E-634DDDAF4B2B}" type="slidenum">
              <a:rPr lang="de-DE" smtClean="0"/>
              <a:pPr/>
              <a:t>5</a:t>
            </a:fld>
            <a:endParaRPr lang="de-DE" dirty="0"/>
          </a:p>
        </p:txBody>
      </p:sp>
      <p:sp>
        <p:nvSpPr>
          <p:cNvPr id="7" name="Textplatzhalter 6">
            <a:extLst>
              <a:ext uri="{FF2B5EF4-FFF2-40B4-BE49-F238E27FC236}">
                <a16:creationId xmlns:a16="http://schemas.microsoft.com/office/drawing/2014/main" id="{21E532AF-8EF0-46DF-A410-71C9CCBD9429}"/>
              </a:ext>
            </a:extLst>
          </p:cNvPr>
          <p:cNvSpPr>
            <a:spLocks noGrp="1"/>
          </p:cNvSpPr>
          <p:nvPr>
            <p:ph type="body" sz="quarter" idx="12"/>
          </p:nvPr>
        </p:nvSpPr>
        <p:spPr/>
        <p:txBody>
          <a:bodyPr/>
          <a:lstStyle/>
          <a:p>
            <a:r>
              <a:rPr lang="de-DE" dirty="0"/>
              <a:t>Xianghan Cao &amp; Benedict Schmitt</a:t>
            </a:r>
          </a:p>
        </p:txBody>
      </p:sp>
      <p:pic>
        <p:nvPicPr>
          <p:cNvPr id="8" name="Picture 2" descr="University of Oulu - Wikipedia">
            <a:extLst>
              <a:ext uri="{FF2B5EF4-FFF2-40B4-BE49-F238E27FC236}">
                <a16:creationId xmlns:a16="http://schemas.microsoft.com/office/drawing/2014/main" id="{DD5DA20B-755F-452B-AD04-6FDEE072B8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platzhalter 2">
            <a:extLst>
              <a:ext uri="{FF2B5EF4-FFF2-40B4-BE49-F238E27FC236}">
                <a16:creationId xmlns:a16="http://schemas.microsoft.com/office/drawing/2014/main" id="{3D02CF94-07B1-4378-B56E-15F3B76BCB84}"/>
              </a:ext>
            </a:extLst>
          </p:cNvPr>
          <p:cNvSpPr txBox="1">
            <a:spLocks/>
          </p:cNvSpPr>
          <p:nvPr/>
        </p:nvSpPr>
        <p:spPr>
          <a:xfrm>
            <a:off x="5220074" y="1995686"/>
            <a:ext cx="3263128" cy="3136994"/>
          </a:xfrm>
          <a:prstGeom prst="rect">
            <a:avLst/>
          </a:prstGeom>
        </p:spPr>
        <p:txBody>
          <a:bodyPr lIns="0" tIns="0" rIns="0" bIns="0"/>
          <a:lstStyle>
            <a:lvl1pPr marL="0">
              <a:defRPr sz="2000" b="0" i="0">
                <a:solidFill>
                  <a:schemeClr val="accent6"/>
                </a:solidFill>
                <a:latin typeface="+mj-lt"/>
                <a:ea typeface="+mn-ea"/>
                <a:cs typeface=""/>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US" u="sng" kern="0" dirty="0">
                <a:solidFill>
                  <a:schemeClr val="tx2"/>
                </a:solidFill>
                <a:ea typeface="+mj-ea"/>
              </a:rPr>
              <a:t>What’s not working:</a:t>
            </a:r>
            <a:endParaRPr lang="en-US" sz="1800" kern="0" dirty="0"/>
          </a:p>
          <a:p>
            <a:pPr marL="342900" indent="-342900" defTabSz="914400">
              <a:buFont typeface="Arial" panose="020B0604020202020204" pitchFamily="34" charset="0"/>
              <a:buChar char="•"/>
            </a:pPr>
            <a:r>
              <a:rPr lang="en-US" sz="1800" kern="0" dirty="0"/>
              <a:t>Hedging opener (S1), makes the paper look boring</a:t>
            </a:r>
          </a:p>
          <a:p>
            <a:pPr marL="342900" indent="-342900" defTabSz="914400">
              <a:buFont typeface="Arial" panose="020B0604020202020204" pitchFamily="34" charset="0"/>
              <a:buChar char="•"/>
            </a:pPr>
            <a:r>
              <a:rPr lang="en-US" sz="1800" kern="0" dirty="0"/>
              <a:t>Overloading (S1), makes it impossible to remember all claims</a:t>
            </a:r>
          </a:p>
        </p:txBody>
      </p:sp>
    </p:spTree>
    <p:extLst>
      <p:ext uri="{BB962C8B-B14F-4D97-AF65-F5344CB8AC3E}">
        <p14:creationId xmlns:p14="http://schemas.microsoft.com/office/powerpoint/2010/main" val="3675483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53DB-527E-0DE3-D863-3BF9FA849768}"/>
            </a:ext>
          </a:extLst>
        </p:cNvPr>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BF1CB1D3-E07C-FBCE-3802-F85A0FCC1392}"/>
              </a:ext>
            </a:extLst>
          </p:cNvPr>
          <p:cNvSpPr>
            <a:spLocks noGrp="1"/>
          </p:cNvSpPr>
          <p:nvPr>
            <p:ph type="ftr" sz="quarter" idx="3"/>
          </p:nvPr>
        </p:nvSpPr>
        <p:spPr/>
        <p:txBody>
          <a:bodyPr/>
          <a:lstStyle/>
          <a:p>
            <a:r>
              <a:rPr lang="de-DE" dirty="0"/>
              <a:t>University </a:t>
            </a:r>
            <a:r>
              <a:rPr lang="de-DE" dirty="0" err="1"/>
              <a:t>of</a:t>
            </a:r>
            <a:r>
              <a:rPr lang="de-DE" dirty="0"/>
              <a:t> </a:t>
            </a:r>
            <a:r>
              <a:rPr lang="de-DE" dirty="0" err="1"/>
              <a:t>Goettingen</a:t>
            </a:r>
            <a:r>
              <a:rPr lang="de-DE" dirty="0"/>
              <a:t> &amp; University </a:t>
            </a:r>
            <a:r>
              <a:rPr lang="de-DE" dirty="0" err="1"/>
              <a:t>of</a:t>
            </a:r>
            <a:r>
              <a:rPr lang="de-DE" dirty="0"/>
              <a:t> Oulu</a:t>
            </a:r>
          </a:p>
        </p:txBody>
      </p:sp>
      <p:sp>
        <p:nvSpPr>
          <p:cNvPr id="5" name="Datumsplatzhalter 4">
            <a:extLst>
              <a:ext uri="{FF2B5EF4-FFF2-40B4-BE49-F238E27FC236}">
                <a16:creationId xmlns:a16="http://schemas.microsoft.com/office/drawing/2014/main" id="{431BAE76-A01F-F333-A2EA-4F46BDBB3559}"/>
              </a:ext>
            </a:extLst>
          </p:cNvPr>
          <p:cNvSpPr>
            <a:spLocks noGrp="1"/>
          </p:cNvSpPr>
          <p:nvPr>
            <p:ph type="dt" sz="half" idx="2"/>
          </p:nvPr>
        </p:nvSpPr>
        <p:spPr/>
        <p:txBody>
          <a:bodyPr/>
          <a:lstStyle/>
          <a:p>
            <a:fld id="{ACF5EF15-2C16-6A49-87B6-C5AFB945A04B}" type="datetime1">
              <a:rPr lang="de-DE" smtClean="0"/>
              <a:pPr/>
              <a:t>12.05.26</a:t>
            </a:fld>
            <a:endParaRPr lang="en-US" dirty="0"/>
          </a:p>
        </p:txBody>
      </p:sp>
      <p:sp>
        <p:nvSpPr>
          <p:cNvPr id="6" name="Foliennummernplatzhalter 5">
            <a:extLst>
              <a:ext uri="{FF2B5EF4-FFF2-40B4-BE49-F238E27FC236}">
                <a16:creationId xmlns:a16="http://schemas.microsoft.com/office/drawing/2014/main" id="{D559D5E6-61F2-D37C-A14B-F6A74F3674A1}"/>
              </a:ext>
            </a:extLst>
          </p:cNvPr>
          <p:cNvSpPr>
            <a:spLocks noGrp="1"/>
          </p:cNvSpPr>
          <p:nvPr>
            <p:ph type="sldNum" sz="quarter" idx="4"/>
          </p:nvPr>
        </p:nvSpPr>
        <p:spPr/>
        <p:txBody>
          <a:bodyPr/>
          <a:lstStyle/>
          <a:p>
            <a:fld id="{B6F15528-21DE-4FAA-801E-634DDDAF4B2B}" type="slidenum">
              <a:rPr lang="de-DE" smtClean="0"/>
              <a:pPr/>
              <a:t>6</a:t>
            </a:fld>
            <a:endParaRPr lang="de-DE" dirty="0"/>
          </a:p>
        </p:txBody>
      </p:sp>
      <p:sp>
        <p:nvSpPr>
          <p:cNvPr id="7" name="Textplatzhalter 6">
            <a:extLst>
              <a:ext uri="{FF2B5EF4-FFF2-40B4-BE49-F238E27FC236}">
                <a16:creationId xmlns:a16="http://schemas.microsoft.com/office/drawing/2014/main" id="{06BF831B-E58A-CFB8-83D6-457DD2E40500}"/>
              </a:ext>
            </a:extLst>
          </p:cNvPr>
          <p:cNvSpPr>
            <a:spLocks noGrp="1"/>
          </p:cNvSpPr>
          <p:nvPr>
            <p:ph type="body" sz="quarter" idx="12"/>
          </p:nvPr>
        </p:nvSpPr>
        <p:spPr/>
        <p:txBody>
          <a:bodyPr/>
          <a:lstStyle/>
          <a:p>
            <a:r>
              <a:rPr lang="de-DE" dirty="0"/>
              <a:t>Xianghan Cao &amp; Benedict Schmitt</a:t>
            </a:r>
          </a:p>
        </p:txBody>
      </p:sp>
      <p:pic>
        <p:nvPicPr>
          <p:cNvPr id="8" name="Picture 2" descr="University of Oulu - Wikipedia">
            <a:extLst>
              <a:ext uri="{FF2B5EF4-FFF2-40B4-BE49-F238E27FC236}">
                <a16:creationId xmlns:a16="http://schemas.microsoft.com/office/drawing/2014/main" id="{01D808A3-B2A3-AAC4-B5E4-D6DD613784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
        <p:nvSpPr>
          <p:cNvPr id="12" name="Triangle 11">
            <a:extLst>
              <a:ext uri="{FF2B5EF4-FFF2-40B4-BE49-F238E27FC236}">
                <a16:creationId xmlns:a16="http://schemas.microsoft.com/office/drawing/2014/main" id="{3829B8AD-34D6-BB23-569E-ED9847882597}"/>
              </a:ext>
            </a:extLst>
          </p:cNvPr>
          <p:cNvSpPr/>
          <p:nvPr/>
        </p:nvSpPr>
        <p:spPr>
          <a:xfrm>
            <a:off x="7504390" y="4550465"/>
            <a:ext cx="288032" cy="178072"/>
          </a:xfrm>
          <a:prstGeom prst="triangl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6" name="Picture 15" descr="A document with text on it&#10;&#10;Description automatically generated">
            <a:extLst>
              <a:ext uri="{FF2B5EF4-FFF2-40B4-BE49-F238E27FC236}">
                <a16:creationId xmlns:a16="http://schemas.microsoft.com/office/drawing/2014/main" id="{5C47356D-18F1-CE91-F34C-4A4B5EEB75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9842" y="817257"/>
            <a:ext cx="2955832" cy="3755140"/>
          </a:xfrm>
          <a:prstGeom prst="rect">
            <a:avLst/>
          </a:prstGeom>
        </p:spPr>
      </p:pic>
      <p:pic>
        <p:nvPicPr>
          <p:cNvPr id="18" name="Picture 17" descr="A paper with text on it&#10;&#10;Description automatically generated">
            <a:extLst>
              <a:ext uri="{FF2B5EF4-FFF2-40B4-BE49-F238E27FC236}">
                <a16:creationId xmlns:a16="http://schemas.microsoft.com/office/drawing/2014/main" id="{7C425D1F-B14B-D613-0237-064EF64962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27393" y="818450"/>
            <a:ext cx="2842027" cy="3723852"/>
          </a:xfrm>
          <a:prstGeom prst="rect">
            <a:avLst/>
          </a:prstGeom>
        </p:spPr>
      </p:pic>
      <p:sp>
        <p:nvSpPr>
          <p:cNvPr id="19" name="Triangle 18">
            <a:extLst>
              <a:ext uri="{FF2B5EF4-FFF2-40B4-BE49-F238E27FC236}">
                <a16:creationId xmlns:a16="http://schemas.microsoft.com/office/drawing/2014/main" id="{3DDA0379-E871-3CEA-7216-AA68A3E9D1EB}"/>
              </a:ext>
            </a:extLst>
          </p:cNvPr>
          <p:cNvSpPr/>
          <p:nvPr/>
        </p:nvSpPr>
        <p:spPr>
          <a:xfrm rot="5400000">
            <a:off x="3345826" y="881847"/>
            <a:ext cx="288032" cy="178072"/>
          </a:xfrm>
          <a:prstGeom prst="triangl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Rectangle 19">
            <a:extLst>
              <a:ext uri="{FF2B5EF4-FFF2-40B4-BE49-F238E27FC236}">
                <a16:creationId xmlns:a16="http://schemas.microsoft.com/office/drawing/2014/main" id="{E7E09BEC-50AA-0689-2D81-EF584E154188}"/>
              </a:ext>
            </a:extLst>
          </p:cNvPr>
          <p:cNvSpPr/>
          <p:nvPr/>
        </p:nvSpPr>
        <p:spPr>
          <a:xfrm>
            <a:off x="6372200" y="3219822"/>
            <a:ext cx="2553205" cy="288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 name="Titel 1">
            <a:extLst>
              <a:ext uri="{FF2B5EF4-FFF2-40B4-BE49-F238E27FC236}">
                <a16:creationId xmlns:a16="http://schemas.microsoft.com/office/drawing/2014/main" id="{CB055500-F812-9B13-4E1C-6224C1448E12}"/>
              </a:ext>
            </a:extLst>
          </p:cNvPr>
          <p:cNvSpPr>
            <a:spLocks noGrp="1"/>
          </p:cNvSpPr>
          <p:nvPr>
            <p:ph type="title"/>
          </p:nvPr>
        </p:nvSpPr>
        <p:spPr>
          <a:xfrm>
            <a:off x="500376" y="985792"/>
            <a:ext cx="7623279" cy="430887"/>
          </a:xfrm>
        </p:spPr>
        <p:txBody>
          <a:bodyPr/>
          <a:lstStyle/>
          <a:p>
            <a:pPr algn="l"/>
            <a:r>
              <a:rPr lang="en-GB" sz="2400" dirty="0"/>
              <a:t>An Unnamed Intro</a:t>
            </a:r>
          </a:p>
        </p:txBody>
      </p:sp>
      <p:sp>
        <p:nvSpPr>
          <p:cNvPr id="10" name="Textplatzhalter 2">
            <a:extLst>
              <a:ext uri="{FF2B5EF4-FFF2-40B4-BE49-F238E27FC236}">
                <a16:creationId xmlns:a16="http://schemas.microsoft.com/office/drawing/2014/main" id="{1A64D48F-E3B4-5091-0FFB-6612CA6E825F}"/>
              </a:ext>
            </a:extLst>
          </p:cNvPr>
          <p:cNvSpPr txBox="1">
            <a:spLocks/>
          </p:cNvSpPr>
          <p:nvPr/>
        </p:nvSpPr>
        <p:spPr>
          <a:xfrm>
            <a:off x="500376" y="1568328"/>
            <a:ext cx="3263128" cy="3136994"/>
          </a:xfrm>
          <a:prstGeom prst="rect">
            <a:avLst/>
          </a:prstGeom>
        </p:spPr>
        <p:txBody>
          <a:bodyPr lIns="0" tIns="0" rIns="0" bIns="0"/>
          <a:lstStyle>
            <a:lvl1pPr marL="0">
              <a:defRPr sz="2000" b="0" i="0">
                <a:solidFill>
                  <a:schemeClr val="accent6"/>
                </a:solidFill>
                <a:latin typeface="+mj-lt"/>
                <a:ea typeface="+mn-ea"/>
                <a:cs typeface=""/>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US" u="sng" kern="0" dirty="0">
                <a:solidFill>
                  <a:schemeClr val="tx2"/>
                </a:solidFill>
                <a:ea typeface="+mj-ea"/>
              </a:rPr>
              <a:t>What’s not working:</a:t>
            </a:r>
            <a:endParaRPr lang="en-US" sz="1800" kern="0" dirty="0"/>
          </a:p>
          <a:p>
            <a:pPr marL="285750" indent="-285750">
              <a:buFont typeface="Arial" panose="020B0604020202020204" pitchFamily="34" charset="0"/>
              <a:buChar char="•"/>
            </a:pPr>
            <a:r>
              <a:rPr lang="en-US" altLang="zh-CN" sz="1500" b="1" dirty="0">
                <a:solidFill>
                  <a:schemeClr val="tx1"/>
                </a:solidFill>
              </a:rPr>
              <a:t>Page 1-7: </a:t>
            </a:r>
            <a:r>
              <a:rPr lang="en-US" altLang="zh-CN" sz="1500" dirty="0">
                <a:solidFill>
                  <a:schemeClr val="tx1"/>
                </a:solidFill>
              </a:rPr>
              <a:t>Not heading, unnamed</a:t>
            </a:r>
            <a:r>
              <a:rPr lang="zh-CN" altLang="en-US" sz="1500" dirty="0">
                <a:solidFill>
                  <a:schemeClr val="tx1"/>
                </a:solidFill>
              </a:rPr>
              <a:t>，</a:t>
            </a:r>
            <a:r>
              <a:rPr lang="en-US" altLang="zh-CN" sz="1500" dirty="0">
                <a:solidFill>
                  <a:schemeClr val="tx1"/>
                </a:solidFill>
              </a:rPr>
              <a:t> text, actually is an introduction</a:t>
            </a:r>
          </a:p>
          <a:p>
            <a:pPr marL="285750" indent="-285750">
              <a:buFont typeface="Arial" panose="020B0604020202020204" pitchFamily="34" charset="0"/>
              <a:buChar char="•"/>
            </a:pPr>
            <a:r>
              <a:rPr lang="en-US" altLang="zh-CN" sz="1500" b="1" dirty="0">
                <a:solidFill>
                  <a:schemeClr val="tx1"/>
                </a:solidFill>
              </a:rPr>
              <a:t>Page 8: </a:t>
            </a:r>
            <a:r>
              <a:rPr lang="en-US" altLang="zh-CN" sz="1500" dirty="0">
                <a:solidFill>
                  <a:schemeClr val="tx1"/>
                </a:solidFill>
              </a:rPr>
              <a:t>first heading, "1. </a:t>
            </a:r>
            <a:r>
              <a:rPr lang="en-US" sz="1500" dirty="0">
                <a:solidFill>
                  <a:schemeClr val="tx1"/>
                </a:solidFill>
              </a:rPr>
              <a:t>Institutional Background And Related Literature" </a:t>
            </a:r>
          </a:p>
          <a:p>
            <a:pPr marL="572734" lvl="1" indent="-285750">
              <a:buFont typeface="Arial" panose="020B0604020202020204" pitchFamily="34" charset="0"/>
              <a:buChar char="•"/>
            </a:pPr>
            <a:r>
              <a:rPr lang="en-US" sz="1500" dirty="0">
                <a:latin typeface="+mj-lt"/>
              </a:rPr>
              <a:t>1.1 Institutional Background</a:t>
            </a:r>
          </a:p>
          <a:p>
            <a:pPr marL="572734" lvl="1" indent="-285750">
              <a:buFont typeface="Arial" panose="020B0604020202020204" pitchFamily="34" charset="0"/>
              <a:buChar char="•"/>
            </a:pPr>
            <a:r>
              <a:rPr lang="en-US" sz="1500" dirty="0">
                <a:latin typeface="+mj-lt"/>
              </a:rPr>
              <a:t>1.2 Related Literature</a:t>
            </a:r>
          </a:p>
        </p:txBody>
      </p:sp>
    </p:spTree>
    <p:extLst>
      <p:ext uri="{BB962C8B-B14F-4D97-AF65-F5344CB8AC3E}">
        <p14:creationId xmlns:p14="http://schemas.microsoft.com/office/powerpoint/2010/main" val="3874711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9A4D9-2E80-914B-5194-19628078AF3D}"/>
            </a:ext>
          </a:extLst>
        </p:cNvPr>
        <p:cNvGrpSpPr/>
        <p:nvPr/>
      </p:nvGrpSpPr>
      <p:grpSpPr>
        <a:xfrm>
          <a:off x="0" y="0"/>
          <a:ext cx="0" cy="0"/>
          <a:chOff x="0" y="0"/>
          <a:chExt cx="0" cy="0"/>
        </a:xfrm>
      </p:grpSpPr>
      <p:pic>
        <p:nvPicPr>
          <p:cNvPr id="16" name="Picture 15" descr="A document with text on it&#10;&#10;Description automatically generated">
            <a:extLst>
              <a:ext uri="{FF2B5EF4-FFF2-40B4-BE49-F238E27FC236}">
                <a16:creationId xmlns:a16="http://schemas.microsoft.com/office/drawing/2014/main" id="{133C8B68-4940-8D85-30BA-6A7CD7E3312A}"/>
              </a:ext>
            </a:extLst>
          </p:cNvPr>
          <p:cNvPicPr>
            <a:picLocks noChangeAspect="1"/>
          </p:cNvPicPr>
          <p:nvPr/>
        </p:nvPicPr>
        <p:blipFill>
          <a:blip r:embed="rId3">
            <a:extLst>
              <a:ext uri="{28A0092B-C50C-407E-A947-70E740481C1C}">
                <a14:useLocalDpi xmlns:a14="http://schemas.microsoft.com/office/drawing/2010/main" val="0"/>
              </a:ext>
            </a:extLst>
          </a:blip>
          <a:srcRect t="1" b="280"/>
          <a:stretch/>
        </p:blipFill>
        <p:spPr>
          <a:xfrm>
            <a:off x="3419872" y="801950"/>
            <a:ext cx="3007304" cy="3809841"/>
          </a:xfrm>
          <a:prstGeom prst="rect">
            <a:avLst/>
          </a:prstGeom>
        </p:spPr>
      </p:pic>
      <p:sp>
        <p:nvSpPr>
          <p:cNvPr id="2" name="Titel 1">
            <a:extLst>
              <a:ext uri="{FF2B5EF4-FFF2-40B4-BE49-F238E27FC236}">
                <a16:creationId xmlns:a16="http://schemas.microsoft.com/office/drawing/2014/main" id="{347DCDC8-BC60-FF5D-91F6-E3B9B696BDAC}"/>
              </a:ext>
            </a:extLst>
          </p:cNvPr>
          <p:cNvSpPr>
            <a:spLocks noGrp="1"/>
          </p:cNvSpPr>
          <p:nvPr>
            <p:ph type="title"/>
          </p:nvPr>
        </p:nvSpPr>
        <p:spPr>
          <a:xfrm>
            <a:off x="467544" y="998269"/>
            <a:ext cx="7623279" cy="430887"/>
          </a:xfrm>
        </p:spPr>
        <p:txBody>
          <a:bodyPr/>
          <a:lstStyle/>
          <a:p>
            <a:pPr algn="l"/>
            <a:r>
              <a:rPr lang="en-US" sz="2800" dirty="0"/>
              <a:t>The Introduction</a:t>
            </a:r>
            <a:endParaRPr lang="en-GB" sz="4400" dirty="0"/>
          </a:p>
        </p:txBody>
      </p:sp>
      <p:sp>
        <p:nvSpPr>
          <p:cNvPr id="4" name="Fußzeilenplatzhalter 3">
            <a:extLst>
              <a:ext uri="{FF2B5EF4-FFF2-40B4-BE49-F238E27FC236}">
                <a16:creationId xmlns:a16="http://schemas.microsoft.com/office/drawing/2014/main" id="{2BB004A7-F4AF-6EAF-AD9C-DA8109354077}"/>
              </a:ext>
            </a:extLst>
          </p:cNvPr>
          <p:cNvSpPr>
            <a:spLocks noGrp="1"/>
          </p:cNvSpPr>
          <p:nvPr>
            <p:ph type="ftr" sz="quarter" idx="3"/>
          </p:nvPr>
        </p:nvSpPr>
        <p:spPr/>
        <p:txBody>
          <a:bodyPr/>
          <a:lstStyle/>
          <a:p>
            <a:r>
              <a:rPr lang="de-DE" dirty="0"/>
              <a:t>University </a:t>
            </a:r>
            <a:r>
              <a:rPr lang="de-DE" dirty="0" err="1"/>
              <a:t>of</a:t>
            </a:r>
            <a:r>
              <a:rPr lang="de-DE" dirty="0"/>
              <a:t> </a:t>
            </a:r>
            <a:r>
              <a:rPr lang="de-DE" dirty="0" err="1"/>
              <a:t>Goettingen</a:t>
            </a:r>
            <a:r>
              <a:rPr lang="de-DE" dirty="0"/>
              <a:t> &amp; University </a:t>
            </a:r>
            <a:r>
              <a:rPr lang="de-DE" dirty="0" err="1"/>
              <a:t>of</a:t>
            </a:r>
            <a:r>
              <a:rPr lang="de-DE" dirty="0"/>
              <a:t> Oulu</a:t>
            </a:r>
          </a:p>
        </p:txBody>
      </p:sp>
      <p:sp>
        <p:nvSpPr>
          <p:cNvPr id="5" name="Datumsplatzhalter 4">
            <a:extLst>
              <a:ext uri="{FF2B5EF4-FFF2-40B4-BE49-F238E27FC236}">
                <a16:creationId xmlns:a16="http://schemas.microsoft.com/office/drawing/2014/main" id="{A656A51C-BD64-987B-B6D6-9CAD10324316}"/>
              </a:ext>
            </a:extLst>
          </p:cNvPr>
          <p:cNvSpPr>
            <a:spLocks noGrp="1"/>
          </p:cNvSpPr>
          <p:nvPr>
            <p:ph type="dt" sz="half" idx="2"/>
          </p:nvPr>
        </p:nvSpPr>
        <p:spPr/>
        <p:txBody>
          <a:bodyPr/>
          <a:lstStyle/>
          <a:p>
            <a:fld id="{ACF5EF15-2C16-6A49-87B6-C5AFB945A04B}" type="datetime1">
              <a:rPr lang="de-DE" smtClean="0"/>
              <a:pPr/>
              <a:t>12.05.26</a:t>
            </a:fld>
            <a:endParaRPr lang="en-US" dirty="0"/>
          </a:p>
        </p:txBody>
      </p:sp>
      <p:sp>
        <p:nvSpPr>
          <p:cNvPr id="6" name="Foliennummernplatzhalter 5">
            <a:extLst>
              <a:ext uri="{FF2B5EF4-FFF2-40B4-BE49-F238E27FC236}">
                <a16:creationId xmlns:a16="http://schemas.microsoft.com/office/drawing/2014/main" id="{B7C1F11D-F030-C9E5-15A5-F77431E64FA3}"/>
              </a:ext>
            </a:extLst>
          </p:cNvPr>
          <p:cNvSpPr>
            <a:spLocks noGrp="1"/>
          </p:cNvSpPr>
          <p:nvPr>
            <p:ph type="sldNum" sz="quarter" idx="4"/>
          </p:nvPr>
        </p:nvSpPr>
        <p:spPr/>
        <p:txBody>
          <a:bodyPr/>
          <a:lstStyle/>
          <a:p>
            <a:fld id="{B6F15528-21DE-4FAA-801E-634DDDAF4B2B}" type="slidenum">
              <a:rPr lang="de-DE" smtClean="0"/>
              <a:pPr/>
              <a:t>7</a:t>
            </a:fld>
            <a:endParaRPr lang="de-DE" dirty="0"/>
          </a:p>
        </p:txBody>
      </p:sp>
      <p:sp>
        <p:nvSpPr>
          <p:cNvPr id="7" name="Textplatzhalter 6">
            <a:extLst>
              <a:ext uri="{FF2B5EF4-FFF2-40B4-BE49-F238E27FC236}">
                <a16:creationId xmlns:a16="http://schemas.microsoft.com/office/drawing/2014/main" id="{69AA4B16-9D0A-AE30-B4B4-4D7FB03A67EB}"/>
              </a:ext>
            </a:extLst>
          </p:cNvPr>
          <p:cNvSpPr>
            <a:spLocks noGrp="1"/>
          </p:cNvSpPr>
          <p:nvPr>
            <p:ph type="body" sz="quarter" idx="12"/>
          </p:nvPr>
        </p:nvSpPr>
        <p:spPr/>
        <p:txBody>
          <a:bodyPr/>
          <a:lstStyle/>
          <a:p>
            <a:r>
              <a:rPr lang="de-DE" dirty="0"/>
              <a:t>Xianghan Cao &amp; Benedict Schmitt</a:t>
            </a:r>
          </a:p>
        </p:txBody>
      </p:sp>
      <p:pic>
        <p:nvPicPr>
          <p:cNvPr id="8" name="Picture 2" descr="University of Oulu - Wikipedia">
            <a:extLst>
              <a:ext uri="{FF2B5EF4-FFF2-40B4-BE49-F238E27FC236}">
                <a16:creationId xmlns:a16="http://schemas.microsoft.com/office/drawing/2014/main" id="{36FA0A4E-46E2-3A23-3A83-6B6F76F016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platzhalter 2">
            <a:extLst>
              <a:ext uri="{FF2B5EF4-FFF2-40B4-BE49-F238E27FC236}">
                <a16:creationId xmlns:a16="http://schemas.microsoft.com/office/drawing/2014/main" id="{2F40CE32-9449-4FE5-AE3F-422393ECE9BF}"/>
              </a:ext>
            </a:extLst>
          </p:cNvPr>
          <p:cNvSpPr txBox="1">
            <a:spLocks/>
          </p:cNvSpPr>
          <p:nvPr/>
        </p:nvSpPr>
        <p:spPr>
          <a:xfrm>
            <a:off x="504065" y="1605903"/>
            <a:ext cx="2739845" cy="3136994"/>
          </a:xfrm>
          <a:prstGeom prst="rect">
            <a:avLst/>
          </a:prstGeom>
        </p:spPr>
        <p:txBody>
          <a:bodyPr lIns="0" tIns="0" rIns="0" bIns="0"/>
          <a:lstStyle>
            <a:lvl1pPr marL="0">
              <a:defRPr sz="2000" b="0" i="0">
                <a:solidFill>
                  <a:schemeClr val="accent6"/>
                </a:solidFill>
                <a:latin typeface="+mj-lt"/>
                <a:ea typeface="+mn-ea"/>
                <a:cs typeface=""/>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US" u="sng" kern="0" dirty="0">
                <a:solidFill>
                  <a:schemeClr val="tx2"/>
                </a:solidFill>
                <a:ea typeface="+mj-ea"/>
              </a:rPr>
              <a:t>What’s not working:</a:t>
            </a:r>
            <a:endParaRPr lang="en-US" sz="1800" kern="0" dirty="0"/>
          </a:p>
          <a:p>
            <a:pPr marL="285750" indent="-285750">
              <a:buFont typeface="Arial" panose="020B0604020202020204" pitchFamily="34" charset="0"/>
              <a:buChar char="•"/>
            </a:pPr>
            <a:r>
              <a:rPr lang="en-US" altLang="zh-CN" sz="1600" b="1" dirty="0">
                <a:solidFill>
                  <a:schemeClr val="tx1"/>
                </a:solidFill>
              </a:rPr>
              <a:t>P1: </a:t>
            </a:r>
            <a:r>
              <a:rPr lang="en-US" altLang="zh-CN" sz="1600" dirty="0">
                <a:solidFill>
                  <a:schemeClr val="tx1"/>
                </a:solidFill>
              </a:rPr>
              <a:t>Detour, endogeneity issue</a:t>
            </a:r>
          </a:p>
          <a:p>
            <a:pPr marL="285750" indent="-285750">
              <a:buFont typeface="Arial" panose="020B0604020202020204" pitchFamily="34" charset="0"/>
              <a:buChar char="•"/>
            </a:pPr>
            <a:r>
              <a:rPr lang="en-US" altLang="zh-CN" sz="1600" b="1" dirty="0">
                <a:solidFill>
                  <a:schemeClr val="tx1"/>
                </a:solidFill>
              </a:rPr>
              <a:t>P2:</a:t>
            </a:r>
            <a:r>
              <a:rPr lang="zh-CN" altLang="en-US" sz="1600" b="1" dirty="0">
                <a:solidFill>
                  <a:schemeClr val="tx1"/>
                </a:solidFill>
              </a:rPr>
              <a:t> </a:t>
            </a:r>
            <a:r>
              <a:rPr lang="en-US" sz="1600" dirty="0">
                <a:solidFill>
                  <a:schemeClr val="tx1"/>
                </a:solidFill>
              </a:rPr>
              <a:t>Detour, Edmans-Gosling-</a:t>
            </a:r>
            <a:r>
              <a:rPr lang="en-US" sz="1600" dirty="0" err="1">
                <a:solidFill>
                  <a:schemeClr val="tx1"/>
                </a:solidFill>
              </a:rPr>
              <a:t>Jenter</a:t>
            </a:r>
            <a:r>
              <a:rPr lang="en-US" sz="1600" dirty="0">
                <a:solidFill>
                  <a:schemeClr val="tx1"/>
                </a:solidFill>
              </a:rPr>
              <a:t> </a:t>
            </a:r>
            <a:r>
              <a:rPr lang="en-US" sz="1600" dirty="0" err="1">
                <a:solidFill>
                  <a:schemeClr val="tx1"/>
                </a:solidFill>
              </a:rPr>
              <a:t>Suvey</a:t>
            </a:r>
            <a:endParaRPr lang="en-US" sz="1600" dirty="0">
              <a:solidFill>
                <a:schemeClr val="tx1"/>
              </a:solidFill>
            </a:endParaRPr>
          </a:p>
          <a:p>
            <a:pPr marL="285750" indent="-285750">
              <a:buFont typeface="Arial" panose="020B0604020202020204" pitchFamily="34" charset="0"/>
              <a:buChar char="•"/>
            </a:pPr>
            <a:r>
              <a:rPr lang="en-US" altLang="zh-CN" sz="1600" b="1" dirty="0">
                <a:solidFill>
                  <a:schemeClr val="tx1"/>
                </a:solidFill>
              </a:rPr>
              <a:t>P3: </a:t>
            </a:r>
            <a:r>
              <a:rPr lang="en-US" sz="1600" dirty="0">
                <a:solidFill>
                  <a:schemeClr val="tx1"/>
                </a:solidFill>
              </a:rPr>
              <a:t>Detour, Say-on-Pay</a:t>
            </a:r>
          </a:p>
          <a:p>
            <a:pPr marL="285750" indent="-285750">
              <a:buFont typeface="Arial" panose="020B0604020202020204" pitchFamily="34" charset="0"/>
              <a:buChar char="•"/>
            </a:pPr>
            <a:r>
              <a:rPr lang="en-US" altLang="zh-CN" sz="1600" b="1" dirty="0">
                <a:solidFill>
                  <a:schemeClr val="tx1"/>
                </a:solidFill>
              </a:rPr>
              <a:t>P4: </a:t>
            </a:r>
            <a:r>
              <a:rPr lang="en-US" altLang="zh-CN" sz="1600" dirty="0">
                <a:solidFill>
                  <a:schemeClr val="tx1"/>
                </a:solidFill>
              </a:rPr>
              <a:t>Hit the topic, “</a:t>
            </a:r>
            <a:r>
              <a:rPr lang="en-US" sz="1600" dirty="0">
                <a:solidFill>
                  <a:schemeClr val="tx1"/>
                </a:solidFill>
              </a:rPr>
              <a:t>In this paper, we examine...”</a:t>
            </a:r>
            <a:endParaRPr lang="en-US" altLang="zh-CN" sz="1600" dirty="0">
              <a:solidFill>
                <a:schemeClr val="tx1"/>
              </a:solidFill>
            </a:endParaRPr>
          </a:p>
          <a:p>
            <a:pPr marL="285750" indent="-285750">
              <a:buFont typeface="Arial" panose="020B0604020202020204" pitchFamily="34" charset="0"/>
              <a:buChar char="•"/>
            </a:pPr>
            <a:endParaRPr lang="en-US" sz="1500" kern="0" dirty="0">
              <a:solidFill>
                <a:schemeClr val="tx1"/>
              </a:solidFill>
            </a:endParaRPr>
          </a:p>
        </p:txBody>
      </p:sp>
      <p:pic>
        <p:nvPicPr>
          <p:cNvPr id="9" name="Picture 8" descr="A close-up of a document&#10;&#10;Description automatically generated">
            <a:extLst>
              <a:ext uri="{FF2B5EF4-FFF2-40B4-BE49-F238E27FC236}">
                <a16:creationId xmlns:a16="http://schemas.microsoft.com/office/drawing/2014/main" id="{F95060A6-CD16-85BC-5F75-6E8241034D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9774" y="801950"/>
            <a:ext cx="2884226" cy="3636860"/>
          </a:xfrm>
          <a:prstGeom prst="rect">
            <a:avLst/>
          </a:prstGeom>
        </p:spPr>
      </p:pic>
      <p:sp>
        <p:nvSpPr>
          <p:cNvPr id="11" name="TextBox 10">
            <a:extLst>
              <a:ext uri="{FF2B5EF4-FFF2-40B4-BE49-F238E27FC236}">
                <a16:creationId xmlns:a16="http://schemas.microsoft.com/office/drawing/2014/main" id="{1CD698C4-2CD2-8FF1-EDA0-C6B69215A67F}"/>
              </a:ext>
            </a:extLst>
          </p:cNvPr>
          <p:cNvSpPr txBox="1"/>
          <p:nvPr/>
        </p:nvSpPr>
        <p:spPr>
          <a:xfrm>
            <a:off x="3371268" y="823856"/>
            <a:ext cx="343364" cy="276999"/>
          </a:xfrm>
          <a:prstGeom prst="rect">
            <a:avLst/>
          </a:prstGeom>
          <a:noFill/>
        </p:spPr>
        <p:txBody>
          <a:bodyPr wrap="none" rtlCol="0">
            <a:spAutoFit/>
          </a:bodyPr>
          <a:lstStyle/>
          <a:p>
            <a:r>
              <a:rPr lang="en-CN" sz="1200" dirty="0">
                <a:solidFill>
                  <a:srgbClr val="FF0000"/>
                </a:solidFill>
              </a:rPr>
              <a:t>P1</a:t>
            </a:r>
          </a:p>
        </p:txBody>
      </p:sp>
      <p:sp>
        <p:nvSpPr>
          <p:cNvPr id="13" name="TextBox 12">
            <a:extLst>
              <a:ext uri="{FF2B5EF4-FFF2-40B4-BE49-F238E27FC236}">
                <a16:creationId xmlns:a16="http://schemas.microsoft.com/office/drawing/2014/main" id="{FFBFC22A-885E-F07F-01C5-E4F6C4B9CBE1}"/>
              </a:ext>
            </a:extLst>
          </p:cNvPr>
          <p:cNvSpPr txBox="1"/>
          <p:nvPr/>
        </p:nvSpPr>
        <p:spPr>
          <a:xfrm>
            <a:off x="3375184" y="1874035"/>
            <a:ext cx="343364" cy="276999"/>
          </a:xfrm>
          <a:prstGeom prst="rect">
            <a:avLst/>
          </a:prstGeom>
          <a:noFill/>
        </p:spPr>
        <p:txBody>
          <a:bodyPr wrap="none" rtlCol="0">
            <a:spAutoFit/>
          </a:bodyPr>
          <a:lstStyle/>
          <a:p>
            <a:r>
              <a:rPr lang="en-CN" sz="1200" dirty="0">
                <a:solidFill>
                  <a:srgbClr val="FF0000"/>
                </a:solidFill>
              </a:rPr>
              <a:t>P2</a:t>
            </a:r>
          </a:p>
        </p:txBody>
      </p:sp>
      <p:sp>
        <p:nvSpPr>
          <p:cNvPr id="14" name="TextBox 13">
            <a:extLst>
              <a:ext uri="{FF2B5EF4-FFF2-40B4-BE49-F238E27FC236}">
                <a16:creationId xmlns:a16="http://schemas.microsoft.com/office/drawing/2014/main" id="{552EF4D4-04AB-C843-EB34-787C2273073C}"/>
              </a:ext>
            </a:extLst>
          </p:cNvPr>
          <p:cNvSpPr txBox="1"/>
          <p:nvPr/>
        </p:nvSpPr>
        <p:spPr>
          <a:xfrm>
            <a:off x="3419872" y="2965914"/>
            <a:ext cx="343364" cy="276999"/>
          </a:xfrm>
          <a:prstGeom prst="rect">
            <a:avLst/>
          </a:prstGeom>
          <a:noFill/>
        </p:spPr>
        <p:txBody>
          <a:bodyPr wrap="none" rtlCol="0">
            <a:spAutoFit/>
          </a:bodyPr>
          <a:lstStyle/>
          <a:p>
            <a:r>
              <a:rPr lang="en-CN" sz="1200" dirty="0">
                <a:solidFill>
                  <a:srgbClr val="FF0000"/>
                </a:solidFill>
              </a:rPr>
              <a:t>P3</a:t>
            </a:r>
          </a:p>
        </p:txBody>
      </p:sp>
      <p:sp>
        <p:nvSpPr>
          <p:cNvPr id="15" name="TextBox 14">
            <a:extLst>
              <a:ext uri="{FF2B5EF4-FFF2-40B4-BE49-F238E27FC236}">
                <a16:creationId xmlns:a16="http://schemas.microsoft.com/office/drawing/2014/main" id="{2D1651AE-7C0E-0446-0349-033EE9630FB3}"/>
              </a:ext>
            </a:extLst>
          </p:cNvPr>
          <p:cNvSpPr txBox="1"/>
          <p:nvPr/>
        </p:nvSpPr>
        <p:spPr>
          <a:xfrm>
            <a:off x="6215086" y="1719555"/>
            <a:ext cx="343364" cy="276999"/>
          </a:xfrm>
          <a:prstGeom prst="rect">
            <a:avLst/>
          </a:prstGeom>
          <a:noFill/>
        </p:spPr>
        <p:txBody>
          <a:bodyPr wrap="none" rtlCol="0">
            <a:spAutoFit/>
          </a:bodyPr>
          <a:lstStyle/>
          <a:p>
            <a:r>
              <a:rPr lang="en-CN" sz="1200" dirty="0">
                <a:solidFill>
                  <a:srgbClr val="FF0000"/>
                </a:solidFill>
              </a:rPr>
              <a:t>P4</a:t>
            </a:r>
          </a:p>
        </p:txBody>
      </p:sp>
      <p:sp>
        <p:nvSpPr>
          <p:cNvPr id="24" name="Rectangle 23">
            <a:extLst>
              <a:ext uri="{FF2B5EF4-FFF2-40B4-BE49-F238E27FC236}">
                <a16:creationId xmlns:a16="http://schemas.microsoft.com/office/drawing/2014/main" id="{B9EB836B-DF42-4B24-ABE7-E63AA495F33B}"/>
              </a:ext>
            </a:extLst>
          </p:cNvPr>
          <p:cNvSpPr/>
          <p:nvPr/>
        </p:nvSpPr>
        <p:spPr>
          <a:xfrm>
            <a:off x="4499992" y="1491630"/>
            <a:ext cx="1759782" cy="144016"/>
          </a:xfrm>
          <a:prstGeom prst="rect">
            <a:avLst/>
          </a:prstGeom>
          <a:solidFill>
            <a:srgbClr val="FF000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Rectangle 24">
            <a:extLst>
              <a:ext uri="{FF2B5EF4-FFF2-40B4-BE49-F238E27FC236}">
                <a16:creationId xmlns:a16="http://schemas.microsoft.com/office/drawing/2014/main" id="{356A5BCB-04F5-FE26-988B-73967FA6DAD6}"/>
              </a:ext>
            </a:extLst>
          </p:cNvPr>
          <p:cNvSpPr/>
          <p:nvPr/>
        </p:nvSpPr>
        <p:spPr>
          <a:xfrm>
            <a:off x="3631950" y="2706870"/>
            <a:ext cx="2583135" cy="144016"/>
          </a:xfrm>
          <a:prstGeom prst="rect">
            <a:avLst/>
          </a:prstGeom>
          <a:solidFill>
            <a:srgbClr val="FF000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6" name="Rectangle 25">
            <a:extLst>
              <a:ext uri="{FF2B5EF4-FFF2-40B4-BE49-F238E27FC236}">
                <a16:creationId xmlns:a16="http://schemas.microsoft.com/office/drawing/2014/main" id="{DFE2B084-0736-458E-83BE-EFDC3DC7FA3A}"/>
              </a:ext>
            </a:extLst>
          </p:cNvPr>
          <p:cNvSpPr/>
          <p:nvPr/>
        </p:nvSpPr>
        <p:spPr>
          <a:xfrm>
            <a:off x="4039107" y="3435846"/>
            <a:ext cx="604901" cy="131502"/>
          </a:xfrm>
          <a:prstGeom prst="rect">
            <a:avLst/>
          </a:prstGeom>
          <a:solidFill>
            <a:srgbClr val="FF000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7" name="Rectangle 26">
            <a:extLst>
              <a:ext uri="{FF2B5EF4-FFF2-40B4-BE49-F238E27FC236}">
                <a16:creationId xmlns:a16="http://schemas.microsoft.com/office/drawing/2014/main" id="{7CB88936-8F32-78C9-BB46-E00BECFE8CE1}"/>
              </a:ext>
            </a:extLst>
          </p:cNvPr>
          <p:cNvSpPr/>
          <p:nvPr/>
        </p:nvSpPr>
        <p:spPr>
          <a:xfrm>
            <a:off x="6558450" y="1758993"/>
            <a:ext cx="2118006" cy="140328"/>
          </a:xfrm>
          <a:prstGeom prst="rect">
            <a:avLst/>
          </a:prstGeom>
          <a:solidFill>
            <a:srgbClr val="FF000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76542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065824FD-21BB-4CC2-A4F9-11235CEE176E}"/>
              </a:ext>
            </a:extLst>
          </p:cNvPr>
          <p:cNvSpPr>
            <a:spLocks noGrp="1"/>
          </p:cNvSpPr>
          <p:nvPr>
            <p:ph type="body" idx="1"/>
          </p:nvPr>
        </p:nvSpPr>
        <p:spPr>
          <a:xfrm>
            <a:off x="660800" y="1450980"/>
            <a:ext cx="2615056" cy="1656184"/>
          </a:xfrm>
        </p:spPr>
        <p:txBody>
          <a:bodyPr/>
          <a:lstStyle/>
          <a:p>
            <a:r>
              <a:rPr lang="en-US" sz="1800" dirty="0" err="1"/>
              <a:t>Preperiod</a:t>
            </a:r>
            <a:r>
              <a:rPr lang="en-US" sz="1800" dirty="0"/>
              <a:t>:</a:t>
            </a:r>
          </a:p>
          <a:p>
            <a:pPr marL="342900" indent="-342900">
              <a:buFont typeface="Arial" panose="020B0604020202020204" pitchFamily="34" charset="0"/>
              <a:buChar char="•"/>
            </a:pPr>
            <a:r>
              <a:rPr lang="en-US" sz="1800" dirty="0"/>
              <a:t>2010: Dodd-Frank</a:t>
            </a:r>
          </a:p>
          <a:p>
            <a:pPr marL="342900" indent="-342900">
              <a:buFont typeface="Arial" panose="020B0604020202020204" pitchFamily="34" charset="0"/>
              <a:buChar char="•"/>
            </a:pPr>
            <a:r>
              <a:rPr lang="en-US" sz="1800" dirty="0"/>
              <a:t>2013: SEC proposes</a:t>
            </a:r>
          </a:p>
          <a:p>
            <a:pPr marL="342900" indent="-342900">
              <a:buFont typeface="Arial" panose="020B0604020202020204" pitchFamily="34" charset="0"/>
              <a:buChar char="•"/>
            </a:pPr>
            <a:r>
              <a:rPr lang="en-US" sz="1800" dirty="0"/>
              <a:t>2015: SEC adopts</a:t>
            </a:r>
          </a:p>
          <a:p>
            <a:pPr marL="342900" indent="-342900">
              <a:buFont typeface="Arial" panose="020B0604020202020204" pitchFamily="34" charset="0"/>
              <a:buChar char="•"/>
            </a:pPr>
            <a:r>
              <a:rPr lang="en-US" sz="1800" dirty="0"/>
              <a:t>2017: Rule effects</a:t>
            </a:r>
          </a:p>
          <a:p>
            <a:pPr marL="342900" indent="-342900">
              <a:buFont typeface="Arial" panose="020B0604020202020204" pitchFamily="34" charset="0"/>
              <a:buChar char="•"/>
            </a:pPr>
            <a:r>
              <a:rPr lang="en-US" sz="1800" dirty="0"/>
              <a:t>2018: 1st Disclosure</a:t>
            </a:r>
          </a:p>
          <a:p>
            <a:endParaRPr lang="en-US" sz="1800" dirty="0"/>
          </a:p>
          <a:p>
            <a:r>
              <a:rPr lang="en-US" sz="1800" dirty="0"/>
              <a:t>Post-period:</a:t>
            </a:r>
          </a:p>
          <a:p>
            <a:pPr marL="342900" indent="-342900">
              <a:buFont typeface="Arial" panose="020B0604020202020204" pitchFamily="34" charset="0"/>
              <a:buChar char="•"/>
            </a:pPr>
            <a:r>
              <a:rPr lang="en-US" sz="1800" dirty="0"/>
              <a:t>2020: COVID-19</a:t>
            </a:r>
          </a:p>
          <a:p>
            <a:pPr marL="342900" indent="-342900">
              <a:buFont typeface="Arial" panose="020B0604020202020204" pitchFamily="34" charset="0"/>
              <a:buChar char="•"/>
            </a:pPr>
            <a:r>
              <a:rPr lang="en-US" sz="1800" dirty="0"/>
              <a:t>2022: ESG</a:t>
            </a:r>
            <a:endParaRPr lang="en-GB" dirty="0"/>
          </a:p>
        </p:txBody>
      </p:sp>
      <p:sp>
        <p:nvSpPr>
          <p:cNvPr id="4" name="Fußzeilenplatzhalter 3">
            <a:extLst>
              <a:ext uri="{FF2B5EF4-FFF2-40B4-BE49-F238E27FC236}">
                <a16:creationId xmlns:a16="http://schemas.microsoft.com/office/drawing/2014/main" id="{C4BF367D-47AA-4BDB-BFCE-F3AB8749D86F}"/>
              </a:ext>
            </a:extLst>
          </p:cNvPr>
          <p:cNvSpPr>
            <a:spLocks noGrp="1"/>
          </p:cNvSpPr>
          <p:nvPr>
            <p:ph type="ftr" sz="quarter" idx="3"/>
          </p:nvPr>
        </p:nvSpPr>
        <p:spPr/>
        <p:txBody>
          <a:bodyPr/>
          <a:lstStyle/>
          <a:p>
            <a:r>
              <a:rPr lang="de-DE" dirty="0"/>
              <a:t>University </a:t>
            </a:r>
            <a:r>
              <a:rPr lang="de-DE" dirty="0" err="1"/>
              <a:t>of</a:t>
            </a:r>
            <a:r>
              <a:rPr lang="de-DE" dirty="0"/>
              <a:t> </a:t>
            </a:r>
            <a:r>
              <a:rPr lang="de-DE" dirty="0" err="1"/>
              <a:t>Goettingen</a:t>
            </a:r>
            <a:r>
              <a:rPr lang="de-DE" dirty="0"/>
              <a:t> &amp; University </a:t>
            </a:r>
            <a:r>
              <a:rPr lang="de-DE" dirty="0" err="1"/>
              <a:t>of</a:t>
            </a:r>
            <a:r>
              <a:rPr lang="de-DE" dirty="0"/>
              <a:t> Oulu</a:t>
            </a:r>
          </a:p>
        </p:txBody>
      </p:sp>
      <p:sp>
        <p:nvSpPr>
          <p:cNvPr id="5" name="Datumsplatzhalter 4">
            <a:extLst>
              <a:ext uri="{FF2B5EF4-FFF2-40B4-BE49-F238E27FC236}">
                <a16:creationId xmlns:a16="http://schemas.microsoft.com/office/drawing/2014/main" id="{F3B126D7-DB4D-4070-8DFA-CEA326BB47AC}"/>
              </a:ext>
            </a:extLst>
          </p:cNvPr>
          <p:cNvSpPr>
            <a:spLocks noGrp="1"/>
          </p:cNvSpPr>
          <p:nvPr>
            <p:ph type="dt" sz="half" idx="2"/>
          </p:nvPr>
        </p:nvSpPr>
        <p:spPr/>
        <p:txBody>
          <a:bodyPr/>
          <a:lstStyle/>
          <a:p>
            <a:fld id="{ACF5EF15-2C16-6A49-87B6-C5AFB945A04B}" type="datetime1">
              <a:rPr lang="de-DE" smtClean="0"/>
              <a:pPr/>
              <a:t>12.05.26</a:t>
            </a:fld>
            <a:endParaRPr lang="en-US" dirty="0"/>
          </a:p>
        </p:txBody>
      </p:sp>
      <p:sp>
        <p:nvSpPr>
          <p:cNvPr id="6" name="Foliennummernplatzhalter 5">
            <a:extLst>
              <a:ext uri="{FF2B5EF4-FFF2-40B4-BE49-F238E27FC236}">
                <a16:creationId xmlns:a16="http://schemas.microsoft.com/office/drawing/2014/main" id="{498C5FA8-A45A-444A-8CAA-419FD537DFB0}"/>
              </a:ext>
            </a:extLst>
          </p:cNvPr>
          <p:cNvSpPr>
            <a:spLocks noGrp="1"/>
          </p:cNvSpPr>
          <p:nvPr>
            <p:ph type="sldNum" sz="quarter" idx="4"/>
          </p:nvPr>
        </p:nvSpPr>
        <p:spPr/>
        <p:txBody>
          <a:bodyPr/>
          <a:lstStyle/>
          <a:p>
            <a:fld id="{B6F15528-21DE-4FAA-801E-634DDDAF4B2B}" type="slidenum">
              <a:rPr lang="de-DE" smtClean="0"/>
              <a:pPr/>
              <a:t>8</a:t>
            </a:fld>
            <a:endParaRPr lang="de-DE" dirty="0"/>
          </a:p>
        </p:txBody>
      </p:sp>
      <p:sp>
        <p:nvSpPr>
          <p:cNvPr id="7" name="Textplatzhalter 6">
            <a:extLst>
              <a:ext uri="{FF2B5EF4-FFF2-40B4-BE49-F238E27FC236}">
                <a16:creationId xmlns:a16="http://schemas.microsoft.com/office/drawing/2014/main" id="{21E532AF-8EF0-46DF-A410-71C9CCBD9429}"/>
              </a:ext>
            </a:extLst>
          </p:cNvPr>
          <p:cNvSpPr>
            <a:spLocks noGrp="1"/>
          </p:cNvSpPr>
          <p:nvPr>
            <p:ph type="body" sz="quarter" idx="12"/>
          </p:nvPr>
        </p:nvSpPr>
        <p:spPr/>
        <p:txBody>
          <a:bodyPr/>
          <a:lstStyle/>
          <a:p>
            <a:r>
              <a:rPr lang="de-DE" dirty="0"/>
              <a:t>Xianghan Cao &amp; Benedict Schmitt</a:t>
            </a:r>
          </a:p>
        </p:txBody>
      </p:sp>
      <p:pic>
        <p:nvPicPr>
          <p:cNvPr id="8" name="Picture 2" descr="University of Oulu - Wikipedia">
            <a:extLst>
              <a:ext uri="{FF2B5EF4-FFF2-40B4-BE49-F238E27FC236}">
                <a16:creationId xmlns:a16="http://schemas.microsoft.com/office/drawing/2014/main" id="{DD5DA20B-755F-452B-AD04-6FDEE072B8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platzhalter 2">
            <a:extLst>
              <a:ext uri="{FF2B5EF4-FFF2-40B4-BE49-F238E27FC236}">
                <a16:creationId xmlns:a16="http://schemas.microsoft.com/office/drawing/2014/main" id="{B9F0753A-ACF9-40C6-A03D-5FFBED285E03}"/>
              </a:ext>
            </a:extLst>
          </p:cNvPr>
          <p:cNvSpPr txBox="1">
            <a:spLocks/>
          </p:cNvSpPr>
          <p:nvPr/>
        </p:nvSpPr>
        <p:spPr>
          <a:xfrm>
            <a:off x="3779912" y="3894836"/>
            <a:ext cx="3407144" cy="895150"/>
          </a:xfrm>
          <a:prstGeom prst="rect">
            <a:avLst/>
          </a:prstGeom>
        </p:spPr>
        <p:txBody>
          <a:bodyPr lIns="0" tIns="0" rIns="0" bIns="0"/>
          <a:lstStyle>
            <a:lvl1pPr marL="0">
              <a:defRPr sz="2000" b="0" i="0">
                <a:solidFill>
                  <a:schemeClr val="accent6"/>
                </a:solidFill>
                <a:latin typeface="+mj-lt"/>
                <a:ea typeface="+mn-ea"/>
                <a:cs typeface=""/>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US" sz="1800" kern="0" dirty="0"/>
              <a:t>Major 'landmines’: </a:t>
            </a:r>
          </a:p>
          <a:p>
            <a:pPr defTabSz="914400"/>
            <a:r>
              <a:rPr lang="en-US" sz="1800" kern="0" dirty="0"/>
              <a:t>Anticipation &amp; COVID-19 Effect</a:t>
            </a:r>
            <a:endParaRPr lang="en-GB" sz="1800" kern="0" dirty="0"/>
          </a:p>
        </p:txBody>
      </p:sp>
      <p:grpSp>
        <p:nvGrpSpPr>
          <p:cNvPr id="12" name="Gruppieren 11">
            <a:extLst>
              <a:ext uri="{FF2B5EF4-FFF2-40B4-BE49-F238E27FC236}">
                <a16:creationId xmlns:a16="http://schemas.microsoft.com/office/drawing/2014/main" id="{7D8CC99D-1CA5-4571-A1FD-B6C27F71A941}"/>
              </a:ext>
            </a:extLst>
          </p:cNvPr>
          <p:cNvGrpSpPr/>
          <p:nvPr/>
        </p:nvGrpSpPr>
        <p:grpSpPr>
          <a:xfrm>
            <a:off x="3131840" y="1233899"/>
            <a:ext cx="6564778" cy="2489954"/>
            <a:chOff x="3430590" y="1374979"/>
            <a:chExt cx="6420762" cy="2216286"/>
          </a:xfrm>
        </p:grpSpPr>
        <p:pic>
          <p:nvPicPr>
            <p:cNvPr id="9" name="Content Placeholder 12" descr="A diagram of a company&#10;&#10;Description automatically generated with medium confidence">
              <a:extLst>
                <a:ext uri="{FF2B5EF4-FFF2-40B4-BE49-F238E27FC236}">
                  <a16:creationId xmlns:a16="http://schemas.microsoft.com/office/drawing/2014/main" id="{B1FE33A1-331F-407D-9C2C-153412F9F0A4}"/>
                </a:ext>
              </a:extLst>
            </p:cNvPr>
            <p:cNvPicPr>
              <a:picLocks noChangeAspect="1"/>
            </p:cNvPicPr>
            <p:nvPr/>
          </p:nvPicPr>
          <p:blipFill>
            <a:blip r:embed="rId4" cstate="print">
              <a:extLst>
                <a:ext uri="{28A0092B-C50C-407E-A947-70E740481C1C}">
                  <a14:useLocalDpi xmlns:a14="http://schemas.microsoft.com/office/drawing/2010/main" val="0"/>
                </a:ext>
              </a:extLst>
            </a:blip>
            <a:srcRect b="18600"/>
            <a:stretch/>
          </p:blipFill>
          <p:spPr>
            <a:xfrm>
              <a:off x="3430590" y="1374979"/>
              <a:ext cx="5774628" cy="2132876"/>
            </a:xfrm>
            <a:prstGeom prst="rect">
              <a:avLst/>
            </a:prstGeom>
          </p:spPr>
        </p:pic>
        <p:sp>
          <p:nvSpPr>
            <p:cNvPr id="11" name="Textplatzhalter 2">
              <a:extLst>
                <a:ext uri="{FF2B5EF4-FFF2-40B4-BE49-F238E27FC236}">
                  <a16:creationId xmlns:a16="http://schemas.microsoft.com/office/drawing/2014/main" id="{D1266136-D739-4EFF-A546-0E7B495FF484}"/>
                </a:ext>
              </a:extLst>
            </p:cNvPr>
            <p:cNvSpPr txBox="1">
              <a:spLocks/>
            </p:cNvSpPr>
            <p:nvPr/>
          </p:nvSpPr>
          <p:spPr>
            <a:xfrm>
              <a:off x="6444208" y="3344489"/>
              <a:ext cx="3407144" cy="246776"/>
            </a:xfrm>
            <a:prstGeom prst="rect">
              <a:avLst/>
            </a:prstGeom>
          </p:spPr>
          <p:txBody>
            <a:bodyPr lIns="0" tIns="0" rIns="0" bIns="0"/>
            <a:lstStyle>
              <a:lvl1pPr marL="0">
                <a:defRPr sz="2000" b="0" i="0">
                  <a:solidFill>
                    <a:schemeClr val="accent6"/>
                  </a:solidFill>
                  <a:latin typeface="+mj-lt"/>
                  <a:ea typeface="+mn-ea"/>
                  <a:cs typeface=""/>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CN" sz="1000" dirty="0"/>
                <a:t>Figure 1</a:t>
              </a:r>
              <a:r>
                <a:rPr lang="de-DE" sz="1000" dirty="0"/>
                <a:t>:</a:t>
              </a:r>
              <a:r>
                <a:rPr lang="en-CN" sz="1000" dirty="0"/>
                <a:t> Timeline of Pay Ratio Disclosure Mandate</a:t>
              </a:r>
              <a:endParaRPr lang="en-GB" sz="1000" kern="0" dirty="0"/>
            </a:p>
          </p:txBody>
        </p:sp>
      </p:grpSp>
      <p:sp>
        <p:nvSpPr>
          <p:cNvPr id="2" name="Titel 1">
            <a:extLst>
              <a:ext uri="{FF2B5EF4-FFF2-40B4-BE49-F238E27FC236}">
                <a16:creationId xmlns:a16="http://schemas.microsoft.com/office/drawing/2014/main" id="{56C8B370-94FD-4E32-A164-77C78B6BE873}"/>
              </a:ext>
            </a:extLst>
          </p:cNvPr>
          <p:cNvSpPr>
            <a:spLocks noGrp="1"/>
          </p:cNvSpPr>
          <p:nvPr>
            <p:ph type="title"/>
          </p:nvPr>
        </p:nvSpPr>
        <p:spPr/>
        <p:txBody>
          <a:bodyPr/>
          <a:lstStyle/>
          <a:p>
            <a:r>
              <a:rPr lang="en-GB" sz="2000" dirty="0"/>
              <a:t>Timeline as writing problem</a:t>
            </a:r>
          </a:p>
        </p:txBody>
      </p:sp>
    </p:spTree>
    <p:extLst>
      <p:ext uri="{BB962C8B-B14F-4D97-AF65-F5344CB8AC3E}">
        <p14:creationId xmlns:p14="http://schemas.microsoft.com/office/powerpoint/2010/main" val="2470126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a:extLst>
              <a:ext uri="{FF2B5EF4-FFF2-40B4-BE49-F238E27FC236}">
                <a16:creationId xmlns:a16="http://schemas.microsoft.com/office/drawing/2014/main" id="{CDC97C93-66CE-4210-B0A7-4C4228FC6CE6}"/>
              </a:ext>
            </a:extLst>
          </p:cNvPr>
          <p:cNvGrpSpPr/>
          <p:nvPr/>
        </p:nvGrpSpPr>
        <p:grpSpPr>
          <a:xfrm>
            <a:off x="2987824" y="1204204"/>
            <a:ext cx="6896713" cy="3095738"/>
            <a:chOff x="3480129" y="1275606"/>
            <a:chExt cx="6587247" cy="3199465"/>
          </a:xfrm>
        </p:grpSpPr>
        <p:pic>
          <p:nvPicPr>
            <p:cNvPr id="15" name="Picture 4" descr="A diagram of a timeline&#10;&#10;Description automatically generated with medium confidence">
              <a:extLst>
                <a:ext uri="{FF2B5EF4-FFF2-40B4-BE49-F238E27FC236}">
                  <a16:creationId xmlns:a16="http://schemas.microsoft.com/office/drawing/2014/main" id="{2D5186FD-F7EE-4035-B6F9-1490E61C0FC9}"/>
                </a:ext>
              </a:extLst>
            </p:cNvPr>
            <p:cNvPicPr>
              <a:picLocks noChangeAspect="1"/>
            </p:cNvPicPr>
            <p:nvPr/>
          </p:nvPicPr>
          <p:blipFill>
            <a:blip r:embed="rId3" cstate="print">
              <a:extLst>
                <a:ext uri="{28A0092B-C50C-407E-A947-70E740481C1C}">
                  <a14:useLocalDpi xmlns:a14="http://schemas.microsoft.com/office/drawing/2010/main" val="0"/>
                </a:ext>
              </a:extLst>
            </a:blip>
            <a:srcRect r="4123"/>
            <a:stretch/>
          </p:blipFill>
          <p:spPr>
            <a:xfrm>
              <a:off x="3480129" y="1275606"/>
              <a:ext cx="5725089" cy="2996460"/>
            </a:xfrm>
            <a:prstGeom prst="rect">
              <a:avLst/>
            </a:prstGeom>
          </p:spPr>
        </p:pic>
        <p:sp>
          <p:nvSpPr>
            <p:cNvPr id="16" name="Textplatzhalter 2">
              <a:extLst>
                <a:ext uri="{FF2B5EF4-FFF2-40B4-BE49-F238E27FC236}">
                  <a16:creationId xmlns:a16="http://schemas.microsoft.com/office/drawing/2014/main" id="{D5188421-5A0B-4D87-A417-855C92601154}"/>
                </a:ext>
              </a:extLst>
            </p:cNvPr>
            <p:cNvSpPr txBox="1">
              <a:spLocks/>
            </p:cNvSpPr>
            <p:nvPr/>
          </p:nvSpPr>
          <p:spPr>
            <a:xfrm>
              <a:off x="4932040" y="4228295"/>
              <a:ext cx="5135336" cy="246776"/>
            </a:xfrm>
            <a:prstGeom prst="rect">
              <a:avLst/>
            </a:prstGeom>
          </p:spPr>
          <p:txBody>
            <a:bodyPr lIns="0" tIns="0" rIns="0" bIns="0"/>
            <a:lstStyle>
              <a:lvl1pPr marL="0">
                <a:defRPr sz="2000" b="0" i="0">
                  <a:solidFill>
                    <a:schemeClr val="accent6"/>
                  </a:solidFill>
                  <a:latin typeface="+mj-lt"/>
                  <a:ea typeface="+mn-ea"/>
                  <a:cs typeface=""/>
                </a:defRPr>
              </a:lvl1pPr>
              <a:lvl2pPr marL="286984">
                <a:defRPr>
                  <a:latin typeface="+mn-lt"/>
                  <a:ea typeface="+mn-ea"/>
                  <a:cs typeface="+mn-cs"/>
                </a:defRPr>
              </a:lvl2pPr>
              <a:lvl3pPr marL="573969">
                <a:defRPr>
                  <a:latin typeface="+mn-lt"/>
                  <a:ea typeface="+mn-ea"/>
                  <a:cs typeface="+mn-cs"/>
                </a:defRPr>
              </a:lvl3pPr>
              <a:lvl4pPr marL="860953">
                <a:defRPr>
                  <a:latin typeface="+mn-lt"/>
                  <a:ea typeface="+mn-ea"/>
                  <a:cs typeface="+mn-cs"/>
                </a:defRPr>
              </a:lvl4pPr>
              <a:lvl5pPr marL="1147938">
                <a:defRPr>
                  <a:latin typeface="+mn-lt"/>
                  <a:ea typeface="+mn-ea"/>
                  <a:cs typeface="+mn-cs"/>
                </a:defRPr>
              </a:lvl5pPr>
              <a:lvl6pPr marL="1434921">
                <a:defRPr>
                  <a:latin typeface="+mn-lt"/>
                  <a:ea typeface="+mn-ea"/>
                  <a:cs typeface="+mn-cs"/>
                </a:defRPr>
              </a:lvl6pPr>
              <a:lvl7pPr marL="1721907">
                <a:defRPr>
                  <a:latin typeface="+mn-lt"/>
                  <a:ea typeface="+mn-ea"/>
                  <a:cs typeface="+mn-cs"/>
                </a:defRPr>
              </a:lvl7pPr>
              <a:lvl8pPr marL="2008891">
                <a:defRPr>
                  <a:latin typeface="+mn-lt"/>
                  <a:ea typeface="+mn-ea"/>
                  <a:cs typeface="+mn-cs"/>
                </a:defRPr>
              </a:lvl8pPr>
              <a:lvl9pPr marL="2295876">
                <a:defRPr>
                  <a:latin typeface="+mn-lt"/>
                  <a:ea typeface="+mn-ea"/>
                  <a:cs typeface="+mn-cs"/>
                </a:defRPr>
              </a:lvl9pPr>
            </a:lstStyle>
            <a:p>
              <a:pPr defTabSz="914400"/>
              <a:r>
                <a:rPr lang="en-US" sz="1000" dirty="0"/>
                <a:t>Figure 2: Timeline of Pay Ratio Disclosure Mandate and Paper’s sample selection </a:t>
              </a:r>
            </a:p>
          </p:txBody>
        </p:sp>
      </p:grpSp>
      <p:sp>
        <p:nvSpPr>
          <p:cNvPr id="3" name="Textplatzhalter 2">
            <a:extLst>
              <a:ext uri="{FF2B5EF4-FFF2-40B4-BE49-F238E27FC236}">
                <a16:creationId xmlns:a16="http://schemas.microsoft.com/office/drawing/2014/main" id="{065824FD-21BB-4CC2-A4F9-11235CEE176E}"/>
              </a:ext>
            </a:extLst>
          </p:cNvPr>
          <p:cNvSpPr>
            <a:spLocks noGrp="1"/>
          </p:cNvSpPr>
          <p:nvPr>
            <p:ph type="body" idx="1"/>
          </p:nvPr>
        </p:nvSpPr>
        <p:spPr>
          <a:xfrm>
            <a:off x="660800" y="1450980"/>
            <a:ext cx="2615056" cy="1656184"/>
          </a:xfrm>
        </p:spPr>
        <p:txBody>
          <a:bodyPr/>
          <a:lstStyle/>
          <a:p>
            <a:r>
              <a:rPr lang="en-US" sz="1800" dirty="0"/>
              <a:t>Data Sample:</a:t>
            </a:r>
          </a:p>
          <a:p>
            <a:pPr marL="342900" indent="-342900">
              <a:buFont typeface="Arial" panose="020B0604020202020204" pitchFamily="34" charset="0"/>
              <a:buChar char="•"/>
            </a:pPr>
            <a:r>
              <a:rPr lang="en-US" sz="1800" dirty="0"/>
              <a:t>2012-2022</a:t>
            </a:r>
          </a:p>
          <a:p>
            <a:pPr marL="342900" indent="-342900">
              <a:buFont typeface="Arial" panose="020B0604020202020204" pitchFamily="34" charset="0"/>
              <a:buChar char="•"/>
            </a:pPr>
            <a:r>
              <a:rPr lang="en-US" sz="1800" dirty="0" err="1"/>
              <a:t>ExecuComp</a:t>
            </a:r>
            <a:r>
              <a:rPr lang="en-US" sz="1800" dirty="0"/>
              <a:t>, SDC</a:t>
            </a:r>
          </a:p>
          <a:p>
            <a:endParaRPr lang="en-US" sz="1800" dirty="0"/>
          </a:p>
          <a:p>
            <a:r>
              <a:rPr lang="en-US" sz="1800" dirty="0"/>
              <a:t>As a reader:</a:t>
            </a:r>
          </a:p>
          <a:p>
            <a:pPr marL="342900" indent="-342900">
              <a:buFont typeface="Arial" panose="020B0604020202020204" pitchFamily="34" charset="0"/>
              <a:buChar char="•"/>
            </a:pPr>
            <a:r>
              <a:rPr lang="en-US" sz="1800" dirty="0"/>
              <a:t>Why is this a writing problem?</a:t>
            </a:r>
          </a:p>
          <a:p>
            <a:pPr marL="342900" indent="-342900">
              <a:buFont typeface="Arial" panose="020B0604020202020204" pitchFamily="34" charset="0"/>
              <a:buChar char="•"/>
            </a:pPr>
            <a:r>
              <a:rPr lang="en-US" sz="1800" dirty="0"/>
              <a:t>Why did they stop at 2022? </a:t>
            </a:r>
          </a:p>
          <a:p>
            <a:pPr marL="342900" indent="-342900">
              <a:buFont typeface="Arial" panose="020B0604020202020204" pitchFamily="34" charset="0"/>
              <a:buChar char="•"/>
            </a:pPr>
            <a:r>
              <a:rPr lang="en-US" sz="1800" dirty="0"/>
              <a:t>Did the results from the later years not support their story? </a:t>
            </a:r>
          </a:p>
          <a:p>
            <a:endParaRPr lang="en-GB" dirty="0"/>
          </a:p>
        </p:txBody>
      </p:sp>
      <p:sp>
        <p:nvSpPr>
          <p:cNvPr id="4" name="Fußzeilenplatzhalter 3">
            <a:extLst>
              <a:ext uri="{FF2B5EF4-FFF2-40B4-BE49-F238E27FC236}">
                <a16:creationId xmlns:a16="http://schemas.microsoft.com/office/drawing/2014/main" id="{C4BF367D-47AA-4BDB-BFCE-F3AB8749D86F}"/>
              </a:ext>
            </a:extLst>
          </p:cNvPr>
          <p:cNvSpPr>
            <a:spLocks noGrp="1"/>
          </p:cNvSpPr>
          <p:nvPr>
            <p:ph type="ftr" sz="quarter" idx="3"/>
          </p:nvPr>
        </p:nvSpPr>
        <p:spPr/>
        <p:txBody>
          <a:bodyPr/>
          <a:lstStyle/>
          <a:p>
            <a:r>
              <a:rPr lang="de-DE" dirty="0"/>
              <a:t>University </a:t>
            </a:r>
            <a:r>
              <a:rPr lang="de-DE" dirty="0" err="1"/>
              <a:t>of</a:t>
            </a:r>
            <a:r>
              <a:rPr lang="de-DE" dirty="0"/>
              <a:t> </a:t>
            </a:r>
            <a:r>
              <a:rPr lang="de-DE" dirty="0" err="1"/>
              <a:t>Goettingen</a:t>
            </a:r>
            <a:r>
              <a:rPr lang="de-DE" dirty="0"/>
              <a:t> &amp; University </a:t>
            </a:r>
            <a:r>
              <a:rPr lang="de-DE" dirty="0" err="1"/>
              <a:t>of</a:t>
            </a:r>
            <a:r>
              <a:rPr lang="de-DE" dirty="0"/>
              <a:t> Oulu</a:t>
            </a:r>
          </a:p>
        </p:txBody>
      </p:sp>
      <p:sp>
        <p:nvSpPr>
          <p:cNvPr id="5" name="Datumsplatzhalter 4">
            <a:extLst>
              <a:ext uri="{FF2B5EF4-FFF2-40B4-BE49-F238E27FC236}">
                <a16:creationId xmlns:a16="http://schemas.microsoft.com/office/drawing/2014/main" id="{F3B126D7-DB4D-4070-8DFA-CEA326BB47AC}"/>
              </a:ext>
            </a:extLst>
          </p:cNvPr>
          <p:cNvSpPr>
            <a:spLocks noGrp="1"/>
          </p:cNvSpPr>
          <p:nvPr>
            <p:ph type="dt" sz="half" idx="2"/>
          </p:nvPr>
        </p:nvSpPr>
        <p:spPr/>
        <p:txBody>
          <a:bodyPr/>
          <a:lstStyle/>
          <a:p>
            <a:fld id="{ACF5EF15-2C16-6A49-87B6-C5AFB945A04B}" type="datetime1">
              <a:rPr lang="de-DE" smtClean="0"/>
              <a:pPr/>
              <a:t>12.05.26</a:t>
            </a:fld>
            <a:endParaRPr lang="en-US" dirty="0"/>
          </a:p>
        </p:txBody>
      </p:sp>
      <p:sp>
        <p:nvSpPr>
          <p:cNvPr id="6" name="Foliennummernplatzhalter 5">
            <a:extLst>
              <a:ext uri="{FF2B5EF4-FFF2-40B4-BE49-F238E27FC236}">
                <a16:creationId xmlns:a16="http://schemas.microsoft.com/office/drawing/2014/main" id="{498C5FA8-A45A-444A-8CAA-419FD537DFB0}"/>
              </a:ext>
            </a:extLst>
          </p:cNvPr>
          <p:cNvSpPr>
            <a:spLocks noGrp="1"/>
          </p:cNvSpPr>
          <p:nvPr>
            <p:ph type="sldNum" sz="quarter" idx="4"/>
          </p:nvPr>
        </p:nvSpPr>
        <p:spPr/>
        <p:txBody>
          <a:bodyPr/>
          <a:lstStyle/>
          <a:p>
            <a:fld id="{B6F15528-21DE-4FAA-801E-634DDDAF4B2B}" type="slidenum">
              <a:rPr lang="de-DE" smtClean="0"/>
              <a:pPr/>
              <a:t>9</a:t>
            </a:fld>
            <a:endParaRPr lang="de-DE" dirty="0"/>
          </a:p>
        </p:txBody>
      </p:sp>
      <p:sp>
        <p:nvSpPr>
          <p:cNvPr id="7" name="Textplatzhalter 6">
            <a:extLst>
              <a:ext uri="{FF2B5EF4-FFF2-40B4-BE49-F238E27FC236}">
                <a16:creationId xmlns:a16="http://schemas.microsoft.com/office/drawing/2014/main" id="{21E532AF-8EF0-46DF-A410-71C9CCBD9429}"/>
              </a:ext>
            </a:extLst>
          </p:cNvPr>
          <p:cNvSpPr>
            <a:spLocks noGrp="1"/>
          </p:cNvSpPr>
          <p:nvPr>
            <p:ph type="body" sz="quarter" idx="12"/>
          </p:nvPr>
        </p:nvSpPr>
        <p:spPr/>
        <p:txBody>
          <a:bodyPr/>
          <a:lstStyle/>
          <a:p>
            <a:r>
              <a:rPr lang="de-DE" dirty="0"/>
              <a:t>Xianghan Cao &amp; Benedict Schmitt</a:t>
            </a:r>
          </a:p>
        </p:txBody>
      </p:sp>
      <p:pic>
        <p:nvPicPr>
          <p:cNvPr id="8" name="Picture 2" descr="University of Oulu - Wikipedia">
            <a:extLst>
              <a:ext uri="{FF2B5EF4-FFF2-40B4-BE49-F238E27FC236}">
                <a16:creationId xmlns:a16="http://schemas.microsoft.com/office/drawing/2014/main" id="{DD5DA20B-755F-452B-AD04-6FDEE072B83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87133" y="56505"/>
            <a:ext cx="478451" cy="627534"/>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56C8B370-94FD-4E32-A164-77C78B6BE873}"/>
              </a:ext>
            </a:extLst>
          </p:cNvPr>
          <p:cNvSpPr>
            <a:spLocks noGrp="1"/>
          </p:cNvSpPr>
          <p:nvPr>
            <p:ph type="title"/>
          </p:nvPr>
        </p:nvSpPr>
        <p:spPr/>
        <p:txBody>
          <a:bodyPr/>
          <a:lstStyle/>
          <a:p>
            <a:r>
              <a:rPr lang="en-GB" sz="2000" dirty="0"/>
              <a:t>Silence on 2023-2024</a:t>
            </a:r>
          </a:p>
        </p:txBody>
      </p:sp>
    </p:spTree>
    <p:extLst>
      <p:ext uri="{BB962C8B-B14F-4D97-AF65-F5344CB8AC3E}">
        <p14:creationId xmlns:p14="http://schemas.microsoft.com/office/powerpoint/2010/main" val="4064350304"/>
      </p:ext>
    </p:extLst>
  </p:cSld>
  <p:clrMapOvr>
    <a:masterClrMapping/>
  </p:clrMapOvr>
</p:sld>
</file>

<file path=ppt/theme/theme1.xml><?xml version="1.0" encoding="utf-8"?>
<a:theme xmlns:a="http://schemas.openxmlformats.org/drawingml/2006/main" name="Office Theme">
  <a:themeElements>
    <a:clrScheme name="Farben Uni Göttingen">
      <a:dk1>
        <a:sysClr val="windowText" lastClr="000000"/>
      </a:dk1>
      <a:lt1>
        <a:sysClr val="window" lastClr="FFFFFF"/>
      </a:lt1>
      <a:dk2>
        <a:srgbClr val="005F9B"/>
      </a:dk2>
      <a:lt2>
        <a:srgbClr val="50A5D2"/>
      </a:lt2>
      <a:accent1>
        <a:srgbClr val="153268"/>
      </a:accent1>
      <a:accent2>
        <a:srgbClr val="3B3B3A"/>
      </a:accent2>
      <a:accent3>
        <a:srgbClr val="84BFEA"/>
      </a:accent3>
      <a:accent4>
        <a:srgbClr val="EAE2D8"/>
      </a:accent4>
      <a:accent5>
        <a:srgbClr val="F6F4F0"/>
      </a:accent5>
      <a:accent6>
        <a:srgbClr val="575756"/>
      </a:accent6>
      <a:hlink>
        <a:srgbClr val="0033CC"/>
      </a:hlink>
      <a:folHlink>
        <a:srgbClr val="6600C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Ion</Template>
  <TotalTime>73</TotalTime>
  <Words>2077</Words>
  <Application>Microsoft Macintosh PowerPoint</Application>
  <PresentationFormat>On-screen Show (16:9)</PresentationFormat>
  <Paragraphs>174</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Anthropic Serif</vt:lpstr>
      <vt:lpstr>Arial</vt:lpstr>
      <vt:lpstr>Calibri</vt:lpstr>
      <vt:lpstr>Helvetica Neue</vt:lpstr>
      <vt:lpstr>Wingdings</vt:lpstr>
      <vt:lpstr>Office Theme</vt:lpstr>
      <vt:lpstr>CEO Incentives and Acquisitions: Evidence from the Pay Ratio Disclosure Mandate*</vt:lpstr>
      <vt:lpstr>The Paper in a Nutshell</vt:lpstr>
      <vt:lpstr>The Title</vt:lpstr>
      <vt:lpstr>The Abstract</vt:lpstr>
      <vt:lpstr>The Abstract</vt:lpstr>
      <vt:lpstr>An Unnamed Intro</vt:lpstr>
      <vt:lpstr>The Introduction</vt:lpstr>
      <vt:lpstr>Timeline as writing problem</vt:lpstr>
      <vt:lpstr>Silence on 2023-2024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Lange, Regina (ZVW);Voss, Christine</dc:creator>
  <cp:lastModifiedBy>Cao Xianghan</cp:lastModifiedBy>
  <cp:revision>170</cp:revision>
  <dcterms:created xsi:type="dcterms:W3CDTF">2017-08-09T09:33:14Z</dcterms:created>
  <dcterms:modified xsi:type="dcterms:W3CDTF">2026-05-12T09:24:10Z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2016-08-08T00:00:00Z</vt:filetime>
  </property>
  <property fmtid="{D5CDD505-2E9C-101B-9397-08002B2CF9AE}" pid="3" name="Creator">
    <vt:lpwstr>Adobe InDesign CC 2015 (Macintosh)</vt:lpwstr>
  </property>
  <property fmtid="{D5CDD505-2E9C-101B-9397-08002B2CF9AE}" pid="4" name="LastSaved">
    <vt:filetime>2016-08-08T00:00:00Z</vt:filetime>
  </property>
</Properties>
</file>