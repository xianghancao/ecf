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63" r:id="rId3"/>
    <p:sldId id="258" r:id="rId4"/>
    <p:sldId id="259" r:id="rId5"/>
    <p:sldId id="265" r:id="rId6"/>
    <p:sldId id="267" r:id="rId7"/>
    <p:sldId id="266" r:id="rId8"/>
    <p:sldId id="269" r:id="rId9"/>
    <p:sldId id="268" r:id="rId1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57" autoAdjust="0"/>
    <p:restoredTop sz="79192" autoAdjust="0"/>
  </p:normalViewPr>
  <p:slideViewPr>
    <p:cSldViewPr snapToGrid="0">
      <p:cViewPr varScale="1">
        <p:scale>
          <a:sx n="88" d="100"/>
          <a:sy n="88" d="100"/>
        </p:scale>
        <p:origin x="108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F42C19-B338-4F81-94DB-166F61EDD589}" type="datetimeFigureOut">
              <a:rPr lang="en-GB" smtClean="0"/>
              <a:t>11/05/2026</a:t>
            </a:fld>
            <a:endParaRPr lang="en-GB"/>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4E93D2-6BFD-4D10-8201-A4B391FCACCA}" type="slidenum">
              <a:rPr lang="en-GB" smtClean="0"/>
              <a:t>‹#›</a:t>
            </a:fld>
            <a:endParaRPr lang="en-GB"/>
          </a:p>
        </p:txBody>
      </p:sp>
    </p:spTree>
    <p:extLst>
      <p:ext uri="{BB962C8B-B14F-4D97-AF65-F5344CB8AC3E}">
        <p14:creationId xmlns:p14="http://schemas.microsoft.com/office/powerpoint/2010/main" val="2481363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“CEO Incentives and Acquisitions: Evidence from the Pay Ratio Disclosure Mandate”</a:t>
            </a:r>
            <a:endParaRPr lang="en-GB" dirty="0"/>
          </a:p>
          <a:p>
            <a:endParaRPr lang="en-GB" dirty="0"/>
          </a:p>
          <a:p>
            <a:r>
              <a:rPr lang="en-GB" dirty="0"/>
              <a:t>CEO Incentives and Acquisitions could fit at least 10 other papers as well – way too generic</a:t>
            </a:r>
          </a:p>
          <a:p>
            <a:endParaRPr lang="en-GB" dirty="0"/>
          </a:p>
          <a:p>
            <a:r>
              <a:rPr lang="en-GB" dirty="0"/>
              <a:t>Titles are also expectation management. Given only the title, the paper could easily be about other incentives than pay (e.g. in the Coles/Daniel/Naveen Delta/Vega-Tradition but it is actually in the Jensen/Murphy flow-pay tradition).</a:t>
            </a:r>
          </a:p>
        </p:txBody>
      </p:sp>
      <p:sp>
        <p:nvSpPr>
          <p:cNvPr id="4" name="Foliennummernplatzhalter 3"/>
          <p:cNvSpPr>
            <a:spLocks noGrp="1"/>
          </p:cNvSpPr>
          <p:nvPr>
            <p:ph type="sldNum" sz="quarter" idx="5"/>
          </p:nvPr>
        </p:nvSpPr>
        <p:spPr/>
        <p:txBody>
          <a:bodyPr/>
          <a:lstStyle/>
          <a:p>
            <a:fld id="{354E93D2-6BFD-4D10-8201-A4B391FCACCA}" type="slidenum">
              <a:rPr lang="en-GB" smtClean="0"/>
              <a:t>3</a:t>
            </a:fld>
            <a:endParaRPr lang="en-GB"/>
          </a:p>
        </p:txBody>
      </p:sp>
    </p:spTree>
    <p:extLst>
      <p:ext uri="{BB962C8B-B14F-4D97-AF65-F5344CB8AC3E}">
        <p14:creationId xmlns:p14="http://schemas.microsoft.com/office/powerpoint/2010/main" val="271311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GB" dirty="0"/>
              <a:t>Results-only or results-first style makes the implicit assumption that the audience has already knowledge about managerial incentives and M&amp;As -&gt; leaving unnecessary text out makes the abstract more catchy</a:t>
            </a:r>
          </a:p>
          <a:p>
            <a:endParaRPr lang="en-US" dirty="0"/>
          </a:p>
          <a:p>
            <a:r>
              <a:rPr lang="en-US" dirty="0"/>
              <a:t>"The weakened pay-size link incentivized CEOs to screen large M&amp;A deals more carefully, as value-destroying large deals no longer increase  compensation.“ Compresses the causal framework of one major into one sentence in plain English.</a:t>
            </a:r>
          </a:p>
          <a:p>
            <a:endParaRPr lang="en-US" dirty="0"/>
          </a:p>
          <a:p>
            <a:r>
              <a:rPr lang="en-US" dirty="0"/>
              <a:t>"Consequently, firms shifted M&amp;A strategies, pursuing fewer large but higher-quality deals and more small but lower-quality ones.“  They put 4 statements into one sentence and make it memorable by using a symmetric contrast.</a:t>
            </a:r>
          </a:p>
          <a:p>
            <a:endParaRPr lang="en-US" dirty="0"/>
          </a:p>
          <a:p>
            <a:endParaRPr lang="en-US" dirty="0"/>
          </a:p>
          <a:p>
            <a:r>
              <a:rPr lang="en-US" dirty="0"/>
              <a:t>The “consistent with…” opening reads like a hedge to overclaiming the papers results. This makes the results look less important and is a boring start.</a:t>
            </a:r>
          </a:p>
          <a:p>
            <a:endParaRPr lang="en-US" dirty="0"/>
          </a:p>
          <a:p>
            <a:r>
              <a:rPr lang="en-US" dirty="0"/>
              <a:t>"Consistent with greater public scrutiny curbing CEO pay growth, the 2017 Pay Ratio Disclosure Mandate reduced the sensitivity of CEO pay to firm size and upside performance, while leaving downside pay-performance sensitivity unchanged.“ The first sentence contains more than 1/3 of the words of the whole abstract and several different claims. The sentence is too long and complicated to remember </a:t>
            </a:r>
            <a:r>
              <a:rPr lang="en-US"/>
              <a:t>the whole content.</a:t>
            </a:r>
            <a:br>
              <a:rPr lang="en-US" dirty="0"/>
            </a:br>
            <a:endParaRPr lang="en-GB" dirty="0"/>
          </a:p>
        </p:txBody>
      </p:sp>
      <p:sp>
        <p:nvSpPr>
          <p:cNvPr id="4" name="Foliennummernplatzhalter 3"/>
          <p:cNvSpPr>
            <a:spLocks noGrp="1"/>
          </p:cNvSpPr>
          <p:nvPr>
            <p:ph type="sldNum" sz="quarter" idx="5"/>
          </p:nvPr>
        </p:nvSpPr>
        <p:spPr/>
        <p:txBody>
          <a:bodyPr/>
          <a:lstStyle/>
          <a:p>
            <a:fld id="{354E93D2-6BFD-4D10-8201-A4B391FCACCA}" type="slidenum">
              <a:rPr lang="en-GB" smtClean="0"/>
              <a:t>4</a:t>
            </a:fld>
            <a:endParaRPr lang="en-GB"/>
          </a:p>
        </p:txBody>
      </p:sp>
    </p:spTree>
    <p:extLst>
      <p:ext uri="{BB962C8B-B14F-4D97-AF65-F5344CB8AC3E}">
        <p14:creationId xmlns:p14="http://schemas.microsoft.com/office/powerpoint/2010/main" val="2544456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论文只花了</a:t>
            </a:r>
            <a:r>
              <a:rPr lang="en-US" altLang="zh-CN" dirty="0"/>
              <a:t>1</a:t>
            </a:r>
            <a:r>
              <a:rPr lang="zh-CN" altLang="en-US" dirty="0"/>
              <a:t>页快速陈述了这个时间线，但是往往时间线里埋了很多地雷，当作者拿着手稿去宣讲或者投稿时，同行就会触碰和讨论这条时间线上的地雷，然后有些就会爆炸</a:t>
            </a:r>
            <a:r>
              <a:rPr lang="en-US" altLang="zh-CN" dirty="0"/>
              <a:t>💥</a:t>
            </a:r>
            <a:endParaRPr lang="zh-CN" altLang="en-US" dirty="0"/>
          </a:p>
          <a:p>
            <a:pPr>
              <a:buFont typeface="+mj-lt"/>
              <a:buAutoNum type="arabicPeriod"/>
            </a:pPr>
            <a:r>
              <a:rPr lang="en-US" altLang="zh-CN" dirty="0"/>
              <a:t>7 </a:t>
            </a:r>
            <a:r>
              <a:rPr lang="zh-CN" altLang="en-US" dirty="0"/>
              <a:t>年的实施延迟意味着 </a:t>
            </a:r>
            <a:r>
              <a:rPr lang="en-US" b="1" dirty="0"/>
              <a:t>anticipation effect</a:t>
            </a:r>
            <a:r>
              <a:rPr lang="en-US" dirty="0"/>
              <a:t> </a:t>
            </a:r>
            <a:r>
              <a:rPr lang="zh-CN" altLang="en-US" dirty="0"/>
              <a:t>不可忽视</a:t>
            </a:r>
          </a:p>
          <a:p>
            <a:pPr>
              <a:buFont typeface="+mj-lt"/>
              <a:buAutoNum type="arabicPeriod"/>
            </a:pPr>
            <a:r>
              <a:rPr lang="zh-CN" altLang="en-US" dirty="0"/>
              <a:t>作者的 </a:t>
            </a:r>
            <a:r>
              <a:rPr lang="en-US" dirty="0"/>
              <a:t>Post = 2018 </a:t>
            </a:r>
            <a:r>
              <a:rPr lang="zh-CN" altLang="en-US" dirty="0"/>
              <a:t>是一个</a:t>
            </a:r>
            <a:r>
              <a:rPr lang="zh-CN" altLang="en-US" b="1" dirty="0"/>
              <a:t>人为选择</a:t>
            </a:r>
            <a:r>
              <a:rPr lang="zh-CN" altLang="en-US" dirty="0"/>
              <a:t>，不是唯一合理的定义</a:t>
            </a:r>
          </a:p>
          <a:p>
            <a:pPr>
              <a:buFont typeface="+mj-lt"/>
              <a:buAutoNum type="arabicPeriod"/>
            </a:pPr>
            <a:r>
              <a:rPr lang="en-US" dirty="0"/>
              <a:t>Pre-period </a:t>
            </a:r>
            <a:r>
              <a:rPr lang="zh-CN" altLang="en-US" dirty="0"/>
              <a:t>可能已经被</a:t>
            </a:r>
            <a:r>
              <a:rPr lang="en-US" altLang="zh-CN" dirty="0"/>
              <a:t>"</a:t>
            </a:r>
            <a:r>
              <a:rPr lang="zh-CN" altLang="en-US" dirty="0"/>
              <a:t>早期治疗</a:t>
            </a:r>
            <a:r>
              <a:rPr lang="en-US" altLang="zh-CN" dirty="0"/>
              <a:t>"</a:t>
            </a:r>
            <a:r>
              <a:rPr lang="zh-CN" altLang="en-US" dirty="0"/>
              <a:t>污染</a:t>
            </a:r>
          </a:p>
          <a:p>
            <a:pPr>
              <a:buFont typeface="+mj-lt"/>
              <a:buAutoNum type="arabicPeriod"/>
            </a:pPr>
            <a:r>
              <a:rPr lang="zh-CN" altLang="en-US" dirty="0"/>
              <a:t>整个</a:t>
            </a:r>
            <a:r>
              <a:rPr lang="en-US" altLang="zh-CN" dirty="0"/>
              <a:t>post-period(2018-2022) 60%</a:t>
            </a:r>
            <a:r>
              <a:rPr lang="zh-CN" altLang="en-US" dirty="0"/>
              <a:t>时间都是</a:t>
            </a:r>
            <a:r>
              <a:rPr lang="en-US" altLang="zh-CN" dirty="0"/>
              <a:t>COVID</a:t>
            </a:r>
            <a:r>
              <a:rPr lang="zh-CN" altLang="en-US" dirty="0"/>
              <a:t>时期，文章只在第</a:t>
            </a:r>
            <a:r>
              <a:rPr lang="en-US" altLang="zh-CN" dirty="0"/>
              <a:t>3</a:t>
            </a:r>
            <a:r>
              <a:rPr lang="zh-CN" altLang="en-US" dirty="0"/>
              <a:t>页的脚注中陈述了，完全没有详细讨论对本文的影响</a:t>
            </a:r>
            <a:endParaRPr lang="en-US" altLang="zh-CN" dirty="0"/>
          </a:p>
          <a:p>
            <a:pPr>
              <a:buFont typeface="+mj-lt"/>
              <a:buAutoNum type="arabicPeriod"/>
            </a:pPr>
            <a:r>
              <a:rPr lang="zh-CN" altLang="en-US" dirty="0"/>
              <a:t>同时，</a:t>
            </a:r>
            <a:r>
              <a:rPr lang="en-US" altLang="zh-CN" dirty="0"/>
              <a:t>ESG</a:t>
            </a:r>
            <a:r>
              <a:rPr lang="zh-CN" altLang="en-US" dirty="0"/>
              <a:t>的兴起，是否同时影响了本文的因变量，作者也没有讨论</a:t>
            </a:r>
            <a:endParaRPr lang="en-US" altLang="zh-CN" dirty="0"/>
          </a:p>
          <a:p>
            <a:pPr>
              <a:buFont typeface="+mj-lt"/>
              <a:buAutoNum type="arabicPeriod"/>
            </a:pPr>
            <a:endParaRPr lang="zh-CN" altLang="en-US" dirty="0"/>
          </a:p>
        </p:txBody>
      </p:sp>
      <p:sp>
        <p:nvSpPr>
          <p:cNvPr id="4" name="Slide Number Placeholder 3"/>
          <p:cNvSpPr>
            <a:spLocks noGrp="1"/>
          </p:cNvSpPr>
          <p:nvPr>
            <p:ph type="sldNum" sz="quarter" idx="5"/>
          </p:nvPr>
        </p:nvSpPr>
        <p:spPr/>
        <p:txBody>
          <a:bodyPr/>
          <a:lstStyle/>
          <a:p>
            <a:fld id="{354E93D2-6BFD-4D10-8201-A4B391FCACCA}" type="slidenum">
              <a:rPr lang="en-GB" smtClean="0"/>
              <a:t>5</a:t>
            </a:fld>
            <a:endParaRPr lang="en-GB"/>
          </a:p>
        </p:txBody>
      </p:sp>
    </p:spTree>
    <p:extLst>
      <p:ext uri="{BB962C8B-B14F-4D97-AF65-F5344CB8AC3E}">
        <p14:creationId xmlns:p14="http://schemas.microsoft.com/office/powerpoint/2010/main" val="4049190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a:p>
        </p:txBody>
      </p:sp>
      <p:sp>
        <p:nvSpPr>
          <p:cNvPr id="4" name="Slide Number Placeholder 3"/>
          <p:cNvSpPr>
            <a:spLocks noGrp="1"/>
          </p:cNvSpPr>
          <p:nvPr>
            <p:ph type="sldNum" sz="quarter" idx="5"/>
          </p:nvPr>
        </p:nvSpPr>
        <p:spPr/>
        <p:txBody>
          <a:bodyPr/>
          <a:lstStyle/>
          <a:p>
            <a:fld id="{354E93D2-6BFD-4D10-8201-A4B391FCACCA}" type="slidenum">
              <a:rPr lang="en-GB" smtClean="0"/>
              <a:t>6</a:t>
            </a:fld>
            <a:endParaRPr lang="en-GB"/>
          </a:p>
        </p:txBody>
      </p:sp>
    </p:spTree>
    <p:extLst>
      <p:ext uri="{BB962C8B-B14F-4D97-AF65-F5344CB8AC3E}">
        <p14:creationId xmlns:p14="http://schemas.microsoft.com/office/powerpoint/2010/main" val="15365928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54E93D2-6BFD-4D10-8201-A4B391FCACCA}" type="slidenum">
              <a:rPr lang="en-GB" smtClean="0"/>
              <a:t>7</a:t>
            </a:fld>
            <a:endParaRPr lang="en-GB"/>
          </a:p>
        </p:txBody>
      </p:sp>
    </p:spTree>
    <p:extLst>
      <p:ext uri="{BB962C8B-B14F-4D97-AF65-F5344CB8AC3E}">
        <p14:creationId xmlns:p14="http://schemas.microsoft.com/office/powerpoint/2010/main" val="912259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692D2D-6B5D-49E3-BEEC-357A67DFCFA2}"/>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GB"/>
          </a:p>
        </p:txBody>
      </p:sp>
      <p:sp>
        <p:nvSpPr>
          <p:cNvPr id="3" name="Untertitel 2">
            <a:extLst>
              <a:ext uri="{FF2B5EF4-FFF2-40B4-BE49-F238E27FC236}">
                <a16:creationId xmlns:a16="http://schemas.microsoft.com/office/drawing/2014/main" id="{800426AF-5983-46A2-8D00-054F666F44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GB"/>
          </a:p>
        </p:txBody>
      </p:sp>
      <p:sp>
        <p:nvSpPr>
          <p:cNvPr id="4" name="Datumsplatzhalter 3">
            <a:extLst>
              <a:ext uri="{FF2B5EF4-FFF2-40B4-BE49-F238E27FC236}">
                <a16:creationId xmlns:a16="http://schemas.microsoft.com/office/drawing/2014/main" id="{6C8DBB06-7E0E-4AE3-A9D6-0DA1E4713FF1}"/>
              </a:ext>
            </a:extLst>
          </p:cNvPr>
          <p:cNvSpPr>
            <a:spLocks noGrp="1"/>
          </p:cNvSpPr>
          <p:nvPr>
            <p:ph type="dt" sz="half" idx="10"/>
          </p:nvPr>
        </p:nvSpPr>
        <p:spPr/>
        <p:txBody>
          <a:bodyPr/>
          <a:lstStyle/>
          <a:p>
            <a:fld id="{D30DA566-1EE8-457F-B6F6-E11D46C3561A}" type="datetimeFigureOut">
              <a:rPr lang="en-GB" smtClean="0"/>
              <a:t>11/05/2026</a:t>
            </a:fld>
            <a:endParaRPr lang="en-GB"/>
          </a:p>
        </p:txBody>
      </p:sp>
      <p:sp>
        <p:nvSpPr>
          <p:cNvPr id="5" name="Fußzeilenplatzhalter 4">
            <a:extLst>
              <a:ext uri="{FF2B5EF4-FFF2-40B4-BE49-F238E27FC236}">
                <a16:creationId xmlns:a16="http://schemas.microsoft.com/office/drawing/2014/main" id="{393B476E-7EBF-4B36-8A96-9D44FE78B140}"/>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8AA0B461-576F-4092-B4E2-94BC999AF142}"/>
              </a:ext>
            </a:extLst>
          </p:cNvPr>
          <p:cNvSpPr>
            <a:spLocks noGrp="1"/>
          </p:cNvSpPr>
          <p:nvPr>
            <p:ph type="sldNum" sz="quarter" idx="12"/>
          </p:nvPr>
        </p:nvSpPr>
        <p:spPr/>
        <p:txBody>
          <a:bodyPr/>
          <a:lstStyle/>
          <a:p>
            <a:fld id="{D3DE6713-8282-4A7E-8AA2-A1525CB4C6AA}" type="slidenum">
              <a:rPr lang="en-GB" smtClean="0"/>
              <a:t>‹#›</a:t>
            </a:fld>
            <a:endParaRPr lang="en-GB"/>
          </a:p>
        </p:txBody>
      </p:sp>
    </p:spTree>
    <p:extLst>
      <p:ext uri="{BB962C8B-B14F-4D97-AF65-F5344CB8AC3E}">
        <p14:creationId xmlns:p14="http://schemas.microsoft.com/office/powerpoint/2010/main" val="3745948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4E8A67-9BBD-47E5-BFA0-EA10F16C6180}"/>
              </a:ext>
            </a:extLst>
          </p:cNvPr>
          <p:cNvSpPr>
            <a:spLocks noGrp="1"/>
          </p:cNvSpPr>
          <p:nvPr>
            <p:ph type="title"/>
          </p:nvPr>
        </p:nvSpPr>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08E17293-328F-4912-A96E-1BEBB102E57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39DFA671-1A25-4389-8671-F476725C770F}"/>
              </a:ext>
            </a:extLst>
          </p:cNvPr>
          <p:cNvSpPr>
            <a:spLocks noGrp="1"/>
          </p:cNvSpPr>
          <p:nvPr>
            <p:ph type="dt" sz="half" idx="10"/>
          </p:nvPr>
        </p:nvSpPr>
        <p:spPr/>
        <p:txBody>
          <a:bodyPr/>
          <a:lstStyle/>
          <a:p>
            <a:fld id="{D30DA566-1EE8-457F-B6F6-E11D46C3561A}" type="datetimeFigureOut">
              <a:rPr lang="en-GB" smtClean="0"/>
              <a:t>11/05/2026</a:t>
            </a:fld>
            <a:endParaRPr lang="en-GB"/>
          </a:p>
        </p:txBody>
      </p:sp>
      <p:sp>
        <p:nvSpPr>
          <p:cNvPr id="5" name="Fußzeilenplatzhalter 4">
            <a:extLst>
              <a:ext uri="{FF2B5EF4-FFF2-40B4-BE49-F238E27FC236}">
                <a16:creationId xmlns:a16="http://schemas.microsoft.com/office/drawing/2014/main" id="{B03D03B7-6DDC-4EE7-A920-AC9C4F80E764}"/>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09C6B77B-B1DF-4C99-B8A6-B3F9AA286F9D}"/>
              </a:ext>
            </a:extLst>
          </p:cNvPr>
          <p:cNvSpPr>
            <a:spLocks noGrp="1"/>
          </p:cNvSpPr>
          <p:nvPr>
            <p:ph type="sldNum" sz="quarter" idx="12"/>
          </p:nvPr>
        </p:nvSpPr>
        <p:spPr/>
        <p:txBody>
          <a:bodyPr/>
          <a:lstStyle/>
          <a:p>
            <a:fld id="{D3DE6713-8282-4A7E-8AA2-A1525CB4C6AA}" type="slidenum">
              <a:rPr lang="en-GB" smtClean="0"/>
              <a:t>‹#›</a:t>
            </a:fld>
            <a:endParaRPr lang="en-GB"/>
          </a:p>
        </p:txBody>
      </p:sp>
    </p:spTree>
    <p:extLst>
      <p:ext uri="{BB962C8B-B14F-4D97-AF65-F5344CB8AC3E}">
        <p14:creationId xmlns:p14="http://schemas.microsoft.com/office/powerpoint/2010/main" val="1047039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F3D6CF-7BCC-4B06-9F33-0B6975F05351}"/>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GB"/>
          </a:p>
        </p:txBody>
      </p:sp>
      <p:sp>
        <p:nvSpPr>
          <p:cNvPr id="3" name="Textplatzhalter 2">
            <a:extLst>
              <a:ext uri="{FF2B5EF4-FFF2-40B4-BE49-F238E27FC236}">
                <a16:creationId xmlns:a16="http://schemas.microsoft.com/office/drawing/2014/main" id="{FD2C9DD3-1F4B-49B5-A3A9-C9E91999DE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6F2CB3FE-6E06-4757-BC48-D1C73E4786F2}"/>
              </a:ext>
            </a:extLst>
          </p:cNvPr>
          <p:cNvSpPr>
            <a:spLocks noGrp="1"/>
          </p:cNvSpPr>
          <p:nvPr>
            <p:ph type="dt" sz="half" idx="10"/>
          </p:nvPr>
        </p:nvSpPr>
        <p:spPr/>
        <p:txBody>
          <a:bodyPr/>
          <a:lstStyle/>
          <a:p>
            <a:fld id="{D30DA566-1EE8-457F-B6F6-E11D46C3561A}" type="datetimeFigureOut">
              <a:rPr lang="en-GB" smtClean="0"/>
              <a:t>11/05/2026</a:t>
            </a:fld>
            <a:endParaRPr lang="en-GB"/>
          </a:p>
        </p:txBody>
      </p:sp>
      <p:sp>
        <p:nvSpPr>
          <p:cNvPr id="5" name="Fußzeilenplatzhalter 4">
            <a:extLst>
              <a:ext uri="{FF2B5EF4-FFF2-40B4-BE49-F238E27FC236}">
                <a16:creationId xmlns:a16="http://schemas.microsoft.com/office/drawing/2014/main" id="{61FC1935-8E34-4909-9FE0-4D2660E466EB}"/>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B9FC886F-3863-4C27-9D45-A4156DB49EC2}"/>
              </a:ext>
            </a:extLst>
          </p:cNvPr>
          <p:cNvSpPr>
            <a:spLocks noGrp="1"/>
          </p:cNvSpPr>
          <p:nvPr>
            <p:ph type="sldNum" sz="quarter" idx="12"/>
          </p:nvPr>
        </p:nvSpPr>
        <p:spPr/>
        <p:txBody>
          <a:bodyPr/>
          <a:lstStyle/>
          <a:p>
            <a:fld id="{D3DE6713-8282-4A7E-8AA2-A1525CB4C6AA}" type="slidenum">
              <a:rPr lang="en-GB" smtClean="0"/>
              <a:t>‹#›</a:t>
            </a:fld>
            <a:endParaRPr lang="en-GB"/>
          </a:p>
        </p:txBody>
      </p:sp>
    </p:spTree>
    <p:extLst>
      <p:ext uri="{BB962C8B-B14F-4D97-AF65-F5344CB8AC3E}">
        <p14:creationId xmlns:p14="http://schemas.microsoft.com/office/powerpoint/2010/main" val="2301080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556343-38B0-451F-8B3D-2EA0FAB1C710}"/>
              </a:ext>
            </a:extLst>
          </p:cNvPr>
          <p:cNvSpPr>
            <a:spLocks noGrp="1"/>
          </p:cNvSpPr>
          <p:nvPr>
            <p:ph type="title"/>
          </p:nvPr>
        </p:nvSpPr>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E769A8C3-1AB0-477F-9CF6-57973FC4EFE2}"/>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Inhaltsplatzhalter 3">
            <a:extLst>
              <a:ext uri="{FF2B5EF4-FFF2-40B4-BE49-F238E27FC236}">
                <a16:creationId xmlns:a16="http://schemas.microsoft.com/office/drawing/2014/main" id="{0C00E6C3-83EC-49C9-A8DF-5C9781FD77B4}"/>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Datumsplatzhalter 4">
            <a:extLst>
              <a:ext uri="{FF2B5EF4-FFF2-40B4-BE49-F238E27FC236}">
                <a16:creationId xmlns:a16="http://schemas.microsoft.com/office/drawing/2014/main" id="{8E893CF8-36AE-4432-892A-A261332FB27C}"/>
              </a:ext>
            </a:extLst>
          </p:cNvPr>
          <p:cNvSpPr>
            <a:spLocks noGrp="1"/>
          </p:cNvSpPr>
          <p:nvPr>
            <p:ph type="dt" sz="half" idx="10"/>
          </p:nvPr>
        </p:nvSpPr>
        <p:spPr/>
        <p:txBody>
          <a:bodyPr/>
          <a:lstStyle/>
          <a:p>
            <a:fld id="{D30DA566-1EE8-457F-B6F6-E11D46C3561A}" type="datetimeFigureOut">
              <a:rPr lang="en-GB" smtClean="0"/>
              <a:t>11/05/2026</a:t>
            </a:fld>
            <a:endParaRPr lang="en-GB"/>
          </a:p>
        </p:txBody>
      </p:sp>
      <p:sp>
        <p:nvSpPr>
          <p:cNvPr id="6" name="Fußzeilenplatzhalter 5">
            <a:extLst>
              <a:ext uri="{FF2B5EF4-FFF2-40B4-BE49-F238E27FC236}">
                <a16:creationId xmlns:a16="http://schemas.microsoft.com/office/drawing/2014/main" id="{BD930998-92F0-455E-A02F-68C656927A4F}"/>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9AA18565-5434-4973-BBB1-44616073BDF8}"/>
              </a:ext>
            </a:extLst>
          </p:cNvPr>
          <p:cNvSpPr>
            <a:spLocks noGrp="1"/>
          </p:cNvSpPr>
          <p:nvPr>
            <p:ph type="sldNum" sz="quarter" idx="12"/>
          </p:nvPr>
        </p:nvSpPr>
        <p:spPr/>
        <p:txBody>
          <a:bodyPr/>
          <a:lstStyle/>
          <a:p>
            <a:fld id="{D3DE6713-8282-4A7E-8AA2-A1525CB4C6AA}" type="slidenum">
              <a:rPr lang="en-GB" smtClean="0"/>
              <a:t>‹#›</a:t>
            </a:fld>
            <a:endParaRPr lang="en-GB"/>
          </a:p>
        </p:txBody>
      </p:sp>
    </p:spTree>
    <p:extLst>
      <p:ext uri="{BB962C8B-B14F-4D97-AF65-F5344CB8AC3E}">
        <p14:creationId xmlns:p14="http://schemas.microsoft.com/office/powerpoint/2010/main" val="2005765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EEB1C6-589F-4E1E-AD9D-FC7965907DCC}"/>
              </a:ext>
            </a:extLst>
          </p:cNvPr>
          <p:cNvSpPr>
            <a:spLocks noGrp="1"/>
          </p:cNvSpPr>
          <p:nvPr>
            <p:ph type="title"/>
          </p:nvPr>
        </p:nvSpPr>
        <p:spPr>
          <a:xfrm>
            <a:off x="839788" y="365125"/>
            <a:ext cx="10515600" cy="1325563"/>
          </a:xfrm>
        </p:spPr>
        <p:txBody>
          <a:bodyPr/>
          <a:lstStyle/>
          <a:p>
            <a:r>
              <a:rPr lang="de-DE"/>
              <a:t>Mastertitelformat bearbeiten</a:t>
            </a:r>
            <a:endParaRPr lang="en-GB"/>
          </a:p>
        </p:txBody>
      </p:sp>
      <p:sp>
        <p:nvSpPr>
          <p:cNvPr id="3" name="Textplatzhalter 2">
            <a:extLst>
              <a:ext uri="{FF2B5EF4-FFF2-40B4-BE49-F238E27FC236}">
                <a16:creationId xmlns:a16="http://schemas.microsoft.com/office/drawing/2014/main" id="{AB1CCE9E-5D3F-4874-8BE2-42BB445102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5FB27F8-BB34-49ED-9385-392F4EAF0FC6}"/>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Textplatzhalter 4">
            <a:extLst>
              <a:ext uri="{FF2B5EF4-FFF2-40B4-BE49-F238E27FC236}">
                <a16:creationId xmlns:a16="http://schemas.microsoft.com/office/drawing/2014/main" id="{CE76F888-9DE3-4787-BB85-93802D9113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01DF0D3B-6EA2-4FE0-8362-AC63871C178B}"/>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7" name="Datumsplatzhalter 6">
            <a:extLst>
              <a:ext uri="{FF2B5EF4-FFF2-40B4-BE49-F238E27FC236}">
                <a16:creationId xmlns:a16="http://schemas.microsoft.com/office/drawing/2014/main" id="{43261B4D-0D6F-46D8-9E6B-3C0FA1A6CBC9}"/>
              </a:ext>
            </a:extLst>
          </p:cNvPr>
          <p:cNvSpPr>
            <a:spLocks noGrp="1"/>
          </p:cNvSpPr>
          <p:nvPr>
            <p:ph type="dt" sz="half" idx="10"/>
          </p:nvPr>
        </p:nvSpPr>
        <p:spPr/>
        <p:txBody>
          <a:bodyPr/>
          <a:lstStyle/>
          <a:p>
            <a:fld id="{D30DA566-1EE8-457F-B6F6-E11D46C3561A}" type="datetimeFigureOut">
              <a:rPr lang="en-GB" smtClean="0"/>
              <a:t>11/05/2026</a:t>
            </a:fld>
            <a:endParaRPr lang="en-GB"/>
          </a:p>
        </p:txBody>
      </p:sp>
      <p:sp>
        <p:nvSpPr>
          <p:cNvPr id="8" name="Fußzeilenplatzhalter 7">
            <a:extLst>
              <a:ext uri="{FF2B5EF4-FFF2-40B4-BE49-F238E27FC236}">
                <a16:creationId xmlns:a16="http://schemas.microsoft.com/office/drawing/2014/main" id="{505FD586-3B08-44A3-B610-8EB25870A92C}"/>
              </a:ext>
            </a:extLst>
          </p:cNvPr>
          <p:cNvSpPr>
            <a:spLocks noGrp="1"/>
          </p:cNvSpPr>
          <p:nvPr>
            <p:ph type="ftr" sz="quarter" idx="11"/>
          </p:nvPr>
        </p:nvSpPr>
        <p:spPr/>
        <p:txBody>
          <a:bodyPr/>
          <a:lstStyle/>
          <a:p>
            <a:endParaRPr lang="en-GB"/>
          </a:p>
        </p:txBody>
      </p:sp>
      <p:sp>
        <p:nvSpPr>
          <p:cNvPr id="9" name="Foliennummernplatzhalter 8">
            <a:extLst>
              <a:ext uri="{FF2B5EF4-FFF2-40B4-BE49-F238E27FC236}">
                <a16:creationId xmlns:a16="http://schemas.microsoft.com/office/drawing/2014/main" id="{91E74067-1DF0-4E99-B641-591E2E8786D9}"/>
              </a:ext>
            </a:extLst>
          </p:cNvPr>
          <p:cNvSpPr>
            <a:spLocks noGrp="1"/>
          </p:cNvSpPr>
          <p:nvPr>
            <p:ph type="sldNum" sz="quarter" idx="12"/>
          </p:nvPr>
        </p:nvSpPr>
        <p:spPr/>
        <p:txBody>
          <a:bodyPr/>
          <a:lstStyle/>
          <a:p>
            <a:fld id="{D3DE6713-8282-4A7E-8AA2-A1525CB4C6AA}" type="slidenum">
              <a:rPr lang="en-GB" smtClean="0"/>
              <a:t>‹#›</a:t>
            </a:fld>
            <a:endParaRPr lang="en-GB"/>
          </a:p>
        </p:txBody>
      </p:sp>
    </p:spTree>
    <p:extLst>
      <p:ext uri="{BB962C8B-B14F-4D97-AF65-F5344CB8AC3E}">
        <p14:creationId xmlns:p14="http://schemas.microsoft.com/office/powerpoint/2010/main" val="2961990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6EAA64-AA86-4E97-91D6-3FCEF67C6D08}"/>
              </a:ext>
            </a:extLst>
          </p:cNvPr>
          <p:cNvSpPr>
            <a:spLocks noGrp="1"/>
          </p:cNvSpPr>
          <p:nvPr>
            <p:ph type="title"/>
          </p:nvPr>
        </p:nvSpPr>
        <p:spPr/>
        <p:txBody>
          <a:bodyPr/>
          <a:lstStyle/>
          <a:p>
            <a:r>
              <a:rPr lang="de-DE"/>
              <a:t>Mastertitelformat bearbeiten</a:t>
            </a:r>
            <a:endParaRPr lang="en-GB"/>
          </a:p>
        </p:txBody>
      </p:sp>
      <p:sp>
        <p:nvSpPr>
          <p:cNvPr id="3" name="Datumsplatzhalter 2">
            <a:extLst>
              <a:ext uri="{FF2B5EF4-FFF2-40B4-BE49-F238E27FC236}">
                <a16:creationId xmlns:a16="http://schemas.microsoft.com/office/drawing/2014/main" id="{EC5D9792-17CD-4240-AF17-93E88FF68D25}"/>
              </a:ext>
            </a:extLst>
          </p:cNvPr>
          <p:cNvSpPr>
            <a:spLocks noGrp="1"/>
          </p:cNvSpPr>
          <p:nvPr>
            <p:ph type="dt" sz="half" idx="10"/>
          </p:nvPr>
        </p:nvSpPr>
        <p:spPr/>
        <p:txBody>
          <a:bodyPr/>
          <a:lstStyle/>
          <a:p>
            <a:fld id="{D30DA566-1EE8-457F-B6F6-E11D46C3561A}" type="datetimeFigureOut">
              <a:rPr lang="en-GB" smtClean="0"/>
              <a:t>11/05/2026</a:t>
            </a:fld>
            <a:endParaRPr lang="en-GB"/>
          </a:p>
        </p:txBody>
      </p:sp>
      <p:sp>
        <p:nvSpPr>
          <p:cNvPr id="4" name="Fußzeilenplatzhalter 3">
            <a:extLst>
              <a:ext uri="{FF2B5EF4-FFF2-40B4-BE49-F238E27FC236}">
                <a16:creationId xmlns:a16="http://schemas.microsoft.com/office/drawing/2014/main" id="{187A6A45-8199-4E1F-8DA6-0B01E2A54D72}"/>
              </a:ext>
            </a:extLst>
          </p:cNvPr>
          <p:cNvSpPr>
            <a:spLocks noGrp="1"/>
          </p:cNvSpPr>
          <p:nvPr>
            <p:ph type="ftr" sz="quarter" idx="11"/>
          </p:nvPr>
        </p:nvSpPr>
        <p:spPr/>
        <p:txBody>
          <a:bodyPr/>
          <a:lstStyle/>
          <a:p>
            <a:endParaRPr lang="en-GB"/>
          </a:p>
        </p:txBody>
      </p:sp>
      <p:sp>
        <p:nvSpPr>
          <p:cNvPr id="5" name="Foliennummernplatzhalter 4">
            <a:extLst>
              <a:ext uri="{FF2B5EF4-FFF2-40B4-BE49-F238E27FC236}">
                <a16:creationId xmlns:a16="http://schemas.microsoft.com/office/drawing/2014/main" id="{00E9625D-76B4-4C80-81CA-EABED09F1690}"/>
              </a:ext>
            </a:extLst>
          </p:cNvPr>
          <p:cNvSpPr>
            <a:spLocks noGrp="1"/>
          </p:cNvSpPr>
          <p:nvPr>
            <p:ph type="sldNum" sz="quarter" idx="12"/>
          </p:nvPr>
        </p:nvSpPr>
        <p:spPr/>
        <p:txBody>
          <a:bodyPr/>
          <a:lstStyle/>
          <a:p>
            <a:fld id="{D3DE6713-8282-4A7E-8AA2-A1525CB4C6AA}" type="slidenum">
              <a:rPr lang="en-GB" smtClean="0"/>
              <a:t>‹#›</a:t>
            </a:fld>
            <a:endParaRPr lang="en-GB"/>
          </a:p>
        </p:txBody>
      </p:sp>
    </p:spTree>
    <p:extLst>
      <p:ext uri="{BB962C8B-B14F-4D97-AF65-F5344CB8AC3E}">
        <p14:creationId xmlns:p14="http://schemas.microsoft.com/office/powerpoint/2010/main" val="934319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3C56E8F-F2C6-4E7C-9518-A9F615E6026D}"/>
              </a:ext>
            </a:extLst>
          </p:cNvPr>
          <p:cNvSpPr>
            <a:spLocks noGrp="1"/>
          </p:cNvSpPr>
          <p:nvPr>
            <p:ph type="dt" sz="half" idx="10"/>
          </p:nvPr>
        </p:nvSpPr>
        <p:spPr/>
        <p:txBody>
          <a:bodyPr/>
          <a:lstStyle/>
          <a:p>
            <a:fld id="{D30DA566-1EE8-457F-B6F6-E11D46C3561A}" type="datetimeFigureOut">
              <a:rPr lang="en-GB" smtClean="0"/>
              <a:t>11/05/2026</a:t>
            </a:fld>
            <a:endParaRPr lang="en-GB"/>
          </a:p>
        </p:txBody>
      </p:sp>
      <p:sp>
        <p:nvSpPr>
          <p:cNvPr id="3" name="Fußzeilenplatzhalter 2">
            <a:extLst>
              <a:ext uri="{FF2B5EF4-FFF2-40B4-BE49-F238E27FC236}">
                <a16:creationId xmlns:a16="http://schemas.microsoft.com/office/drawing/2014/main" id="{C06C4471-54D4-4469-9682-8E85F368AA26}"/>
              </a:ext>
            </a:extLst>
          </p:cNvPr>
          <p:cNvSpPr>
            <a:spLocks noGrp="1"/>
          </p:cNvSpPr>
          <p:nvPr>
            <p:ph type="ftr" sz="quarter" idx="11"/>
          </p:nvPr>
        </p:nvSpPr>
        <p:spPr/>
        <p:txBody>
          <a:bodyPr/>
          <a:lstStyle/>
          <a:p>
            <a:endParaRPr lang="en-GB"/>
          </a:p>
        </p:txBody>
      </p:sp>
      <p:sp>
        <p:nvSpPr>
          <p:cNvPr id="4" name="Foliennummernplatzhalter 3">
            <a:extLst>
              <a:ext uri="{FF2B5EF4-FFF2-40B4-BE49-F238E27FC236}">
                <a16:creationId xmlns:a16="http://schemas.microsoft.com/office/drawing/2014/main" id="{16B60FCD-4703-4767-862D-4659B6F5E841}"/>
              </a:ext>
            </a:extLst>
          </p:cNvPr>
          <p:cNvSpPr>
            <a:spLocks noGrp="1"/>
          </p:cNvSpPr>
          <p:nvPr>
            <p:ph type="sldNum" sz="quarter" idx="12"/>
          </p:nvPr>
        </p:nvSpPr>
        <p:spPr/>
        <p:txBody>
          <a:bodyPr/>
          <a:lstStyle/>
          <a:p>
            <a:fld id="{D3DE6713-8282-4A7E-8AA2-A1525CB4C6AA}" type="slidenum">
              <a:rPr lang="en-GB" smtClean="0"/>
              <a:t>‹#›</a:t>
            </a:fld>
            <a:endParaRPr lang="en-GB"/>
          </a:p>
        </p:txBody>
      </p:sp>
    </p:spTree>
    <p:extLst>
      <p:ext uri="{BB962C8B-B14F-4D97-AF65-F5344CB8AC3E}">
        <p14:creationId xmlns:p14="http://schemas.microsoft.com/office/powerpoint/2010/main" val="3676658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6E7BD2F-61AE-4A18-8715-E098DED76067}"/>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Inhaltsplatzhalter 2">
            <a:extLst>
              <a:ext uri="{FF2B5EF4-FFF2-40B4-BE49-F238E27FC236}">
                <a16:creationId xmlns:a16="http://schemas.microsoft.com/office/drawing/2014/main" id="{69C91153-6EE7-4E96-B552-482DFAE83F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Textplatzhalter 3">
            <a:extLst>
              <a:ext uri="{FF2B5EF4-FFF2-40B4-BE49-F238E27FC236}">
                <a16:creationId xmlns:a16="http://schemas.microsoft.com/office/drawing/2014/main" id="{F7679D87-CDA0-4F16-9DFC-0D5833BEC5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2A73A769-66DB-41E0-B84A-DA00F5D3533F}"/>
              </a:ext>
            </a:extLst>
          </p:cNvPr>
          <p:cNvSpPr>
            <a:spLocks noGrp="1"/>
          </p:cNvSpPr>
          <p:nvPr>
            <p:ph type="dt" sz="half" idx="10"/>
          </p:nvPr>
        </p:nvSpPr>
        <p:spPr/>
        <p:txBody>
          <a:bodyPr/>
          <a:lstStyle/>
          <a:p>
            <a:fld id="{D30DA566-1EE8-457F-B6F6-E11D46C3561A}" type="datetimeFigureOut">
              <a:rPr lang="en-GB" smtClean="0"/>
              <a:t>11/05/2026</a:t>
            </a:fld>
            <a:endParaRPr lang="en-GB"/>
          </a:p>
        </p:txBody>
      </p:sp>
      <p:sp>
        <p:nvSpPr>
          <p:cNvPr id="6" name="Fußzeilenplatzhalter 5">
            <a:extLst>
              <a:ext uri="{FF2B5EF4-FFF2-40B4-BE49-F238E27FC236}">
                <a16:creationId xmlns:a16="http://schemas.microsoft.com/office/drawing/2014/main" id="{D5A86815-68BB-47E6-9604-0A72ED120CC6}"/>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9DBC6247-DD80-4421-8B73-EDC2C7F6FE99}"/>
              </a:ext>
            </a:extLst>
          </p:cNvPr>
          <p:cNvSpPr>
            <a:spLocks noGrp="1"/>
          </p:cNvSpPr>
          <p:nvPr>
            <p:ph type="sldNum" sz="quarter" idx="12"/>
          </p:nvPr>
        </p:nvSpPr>
        <p:spPr/>
        <p:txBody>
          <a:bodyPr/>
          <a:lstStyle/>
          <a:p>
            <a:fld id="{D3DE6713-8282-4A7E-8AA2-A1525CB4C6AA}" type="slidenum">
              <a:rPr lang="en-GB" smtClean="0"/>
              <a:t>‹#›</a:t>
            </a:fld>
            <a:endParaRPr lang="en-GB"/>
          </a:p>
        </p:txBody>
      </p:sp>
    </p:spTree>
    <p:extLst>
      <p:ext uri="{BB962C8B-B14F-4D97-AF65-F5344CB8AC3E}">
        <p14:creationId xmlns:p14="http://schemas.microsoft.com/office/powerpoint/2010/main" val="1673684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8A84DE-8667-4060-BEDA-F480B342B57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Bildplatzhalter 2">
            <a:extLst>
              <a:ext uri="{FF2B5EF4-FFF2-40B4-BE49-F238E27FC236}">
                <a16:creationId xmlns:a16="http://schemas.microsoft.com/office/drawing/2014/main" id="{35AC12A1-92F9-4B61-88AB-23493EF022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platzhalter 3">
            <a:extLst>
              <a:ext uri="{FF2B5EF4-FFF2-40B4-BE49-F238E27FC236}">
                <a16:creationId xmlns:a16="http://schemas.microsoft.com/office/drawing/2014/main" id="{1637A204-F1B8-4311-9CF3-539F5A8B2D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B629FB0-6ABA-4CDB-BB43-39AA34793DAE}"/>
              </a:ext>
            </a:extLst>
          </p:cNvPr>
          <p:cNvSpPr>
            <a:spLocks noGrp="1"/>
          </p:cNvSpPr>
          <p:nvPr>
            <p:ph type="dt" sz="half" idx="10"/>
          </p:nvPr>
        </p:nvSpPr>
        <p:spPr/>
        <p:txBody>
          <a:bodyPr/>
          <a:lstStyle/>
          <a:p>
            <a:fld id="{D30DA566-1EE8-457F-B6F6-E11D46C3561A}" type="datetimeFigureOut">
              <a:rPr lang="en-GB" smtClean="0"/>
              <a:t>11/05/2026</a:t>
            </a:fld>
            <a:endParaRPr lang="en-GB"/>
          </a:p>
        </p:txBody>
      </p:sp>
      <p:sp>
        <p:nvSpPr>
          <p:cNvPr id="6" name="Fußzeilenplatzhalter 5">
            <a:extLst>
              <a:ext uri="{FF2B5EF4-FFF2-40B4-BE49-F238E27FC236}">
                <a16:creationId xmlns:a16="http://schemas.microsoft.com/office/drawing/2014/main" id="{EE2E1CB9-6D21-43DD-8CFD-049559A02D16}"/>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CFE43575-BFDA-40E3-9F12-27456A565242}"/>
              </a:ext>
            </a:extLst>
          </p:cNvPr>
          <p:cNvSpPr>
            <a:spLocks noGrp="1"/>
          </p:cNvSpPr>
          <p:nvPr>
            <p:ph type="sldNum" sz="quarter" idx="12"/>
          </p:nvPr>
        </p:nvSpPr>
        <p:spPr/>
        <p:txBody>
          <a:bodyPr/>
          <a:lstStyle/>
          <a:p>
            <a:fld id="{D3DE6713-8282-4A7E-8AA2-A1525CB4C6AA}" type="slidenum">
              <a:rPr lang="en-GB" smtClean="0"/>
              <a:t>‹#›</a:t>
            </a:fld>
            <a:endParaRPr lang="en-GB"/>
          </a:p>
        </p:txBody>
      </p:sp>
    </p:spTree>
    <p:extLst>
      <p:ext uri="{BB962C8B-B14F-4D97-AF65-F5344CB8AC3E}">
        <p14:creationId xmlns:p14="http://schemas.microsoft.com/office/powerpoint/2010/main" val="3313606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1CC8B3-92CE-4B46-86F1-BE837141D502}"/>
              </a:ext>
            </a:extLst>
          </p:cNvPr>
          <p:cNvSpPr>
            <a:spLocks noGrp="1"/>
          </p:cNvSpPr>
          <p:nvPr>
            <p:ph type="title"/>
          </p:nvPr>
        </p:nvSpPr>
        <p:spPr/>
        <p:txBody>
          <a:bodyPr/>
          <a:lstStyle/>
          <a:p>
            <a:r>
              <a:rPr lang="de-DE"/>
              <a:t>Mastertitelformat bearbeiten</a:t>
            </a:r>
            <a:endParaRPr lang="en-GB"/>
          </a:p>
        </p:txBody>
      </p:sp>
      <p:sp>
        <p:nvSpPr>
          <p:cNvPr id="3" name="Vertikaler Textplatzhalter 2">
            <a:extLst>
              <a:ext uri="{FF2B5EF4-FFF2-40B4-BE49-F238E27FC236}">
                <a16:creationId xmlns:a16="http://schemas.microsoft.com/office/drawing/2014/main" id="{B48E3B02-12CC-43C4-AB60-2423F6E791DB}"/>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391123F7-D149-40AD-82F2-7DFEA60E7E39}"/>
              </a:ext>
            </a:extLst>
          </p:cNvPr>
          <p:cNvSpPr>
            <a:spLocks noGrp="1"/>
          </p:cNvSpPr>
          <p:nvPr>
            <p:ph type="dt" sz="half" idx="10"/>
          </p:nvPr>
        </p:nvSpPr>
        <p:spPr/>
        <p:txBody>
          <a:bodyPr/>
          <a:lstStyle/>
          <a:p>
            <a:fld id="{D30DA566-1EE8-457F-B6F6-E11D46C3561A}" type="datetimeFigureOut">
              <a:rPr lang="en-GB" smtClean="0"/>
              <a:t>11/05/2026</a:t>
            </a:fld>
            <a:endParaRPr lang="en-GB"/>
          </a:p>
        </p:txBody>
      </p:sp>
      <p:sp>
        <p:nvSpPr>
          <p:cNvPr id="5" name="Fußzeilenplatzhalter 4">
            <a:extLst>
              <a:ext uri="{FF2B5EF4-FFF2-40B4-BE49-F238E27FC236}">
                <a16:creationId xmlns:a16="http://schemas.microsoft.com/office/drawing/2014/main" id="{4203617E-53DB-4ECB-922C-071FAEC8E978}"/>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D080261C-2805-4B36-B54F-26E2376ADB49}"/>
              </a:ext>
            </a:extLst>
          </p:cNvPr>
          <p:cNvSpPr>
            <a:spLocks noGrp="1"/>
          </p:cNvSpPr>
          <p:nvPr>
            <p:ph type="sldNum" sz="quarter" idx="12"/>
          </p:nvPr>
        </p:nvSpPr>
        <p:spPr/>
        <p:txBody>
          <a:bodyPr/>
          <a:lstStyle/>
          <a:p>
            <a:fld id="{D3DE6713-8282-4A7E-8AA2-A1525CB4C6AA}" type="slidenum">
              <a:rPr lang="en-GB" smtClean="0"/>
              <a:t>‹#›</a:t>
            </a:fld>
            <a:endParaRPr lang="en-GB"/>
          </a:p>
        </p:txBody>
      </p:sp>
    </p:spTree>
    <p:extLst>
      <p:ext uri="{BB962C8B-B14F-4D97-AF65-F5344CB8AC3E}">
        <p14:creationId xmlns:p14="http://schemas.microsoft.com/office/powerpoint/2010/main" val="2335720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6AD071D8-AD9A-4BCB-988A-3371B5E865BE}"/>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GB"/>
          </a:p>
        </p:txBody>
      </p:sp>
      <p:sp>
        <p:nvSpPr>
          <p:cNvPr id="3" name="Vertikaler Textplatzhalter 2">
            <a:extLst>
              <a:ext uri="{FF2B5EF4-FFF2-40B4-BE49-F238E27FC236}">
                <a16:creationId xmlns:a16="http://schemas.microsoft.com/office/drawing/2014/main" id="{2AC9CE64-A8E2-4622-99C6-8084FBF9D9A8}"/>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B4EB4618-13C8-4E59-9281-E761CE445327}"/>
              </a:ext>
            </a:extLst>
          </p:cNvPr>
          <p:cNvSpPr>
            <a:spLocks noGrp="1"/>
          </p:cNvSpPr>
          <p:nvPr>
            <p:ph type="dt" sz="half" idx="10"/>
          </p:nvPr>
        </p:nvSpPr>
        <p:spPr/>
        <p:txBody>
          <a:bodyPr/>
          <a:lstStyle/>
          <a:p>
            <a:fld id="{D30DA566-1EE8-457F-B6F6-E11D46C3561A}" type="datetimeFigureOut">
              <a:rPr lang="en-GB" smtClean="0"/>
              <a:t>11/05/2026</a:t>
            </a:fld>
            <a:endParaRPr lang="en-GB"/>
          </a:p>
        </p:txBody>
      </p:sp>
      <p:sp>
        <p:nvSpPr>
          <p:cNvPr id="5" name="Fußzeilenplatzhalter 4">
            <a:extLst>
              <a:ext uri="{FF2B5EF4-FFF2-40B4-BE49-F238E27FC236}">
                <a16:creationId xmlns:a16="http://schemas.microsoft.com/office/drawing/2014/main" id="{1FBE5AFF-79B0-47DA-9E90-9DEA3503793F}"/>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C90C0F7A-7415-43D1-A783-A1D8E8DA1E8B}"/>
              </a:ext>
            </a:extLst>
          </p:cNvPr>
          <p:cNvSpPr>
            <a:spLocks noGrp="1"/>
          </p:cNvSpPr>
          <p:nvPr>
            <p:ph type="sldNum" sz="quarter" idx="12"/>
          </p:nvPr>
        </p:nvSpPr>
        <p:spPr/>
        <p:txBody>
          <a:bodyPr/>
          <a:lstStyle/>
          <a:p>
            <a:fld id="{D3DE6713-8282-4A7E-8AA2-A1525CB4C6AA}" type="slidenum">
              <a:rPr lang="en-GB" smtClean="0"/>
              <a:t>‹#›</a:t>
            </a:fld>
            <a:endParaRPr lang="en-GB"/>
          </a:p>
        </p:txBody>
      </p:sp>
    </p:spTree>
    <p:extLst>
      <p:ext uri="{BB962C8B-B14F-4D97-AF65-F5344CB8AC3E}">
        <p14:creationId xmlns:p14="http://schemas.microsoft.com/office/powerpoint/2010/main" val="989040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AF91A9D-B144-44D5-A6A2-ADFE2FD9E7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GB"/>
          </a:p>
        </p:txBody>
      </p:sp>
      <p:sp>
        <p:nvSpPr>
          <p:cNvPr id="3" name="Textplatzhalter 2">
            <a:extLst>
              <a:ext uri="{FF2B5EF4-FFF2-40B4-BE49-F238E27FC236}">
                <a16:creationId xmlns:a16="http://schemas.microsoft.com/office/drawing/2014/main" id="{9F9CE98B-6C54-475C-8DDD-9BB62282D5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021E4D7D-8792-4C05-A27E-52F96881D6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0DA566-1EE8-457F-B6F6-E11D46C3561A}" type="datetimeFigureOut">
              <a:rPr lang="en-GB" smtClean="0"/>
              <a:t>11/05/2026</a:t>
            </a:fld>
            <a:endParaRPr lang="en-GB"/>
          </a:p>
        </p:txBody>
      </p:sp>
      <p:sp>
        <p:nvSpPr>
          <p:cNvPr id="5" name="Fußzeilenplatzhalter 4">
            <a:extLst>
              <a:ext uri="{FF2B5EF4-FFF2-40B4-BE49-F238E27FC236}">
                <a16:creationId xmlns:a16="http://schemas.microsoft.com/office/drawing/2014/main" id="{41247979-492B-4062-AE69-34267C097A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Foliennummernplatzhalter 5">
            <a:extLst>
              <a:ext uri="{FF2B5EF4-FFF2-40B4-BE49-F238E27FC236}">
                <a16:creationId xmlns:a16="http://schemas.microsoft.com/office/drawing/2014/main" id="{CB1FBCB2-2BB8-467F-AE22-6DE691042A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DE6713-8282-4A7E-8AA2-A1525CB4C6AA}" type="slidenum">
              <a:rPr lang="en-GB" smtClean="0"/>
              <a:t>‹#›</a:t>
            </a:fld>
            <a:endParaRPr lang="en-GB"/>
          </a:p>
        </p:txBody>
      </p:sp>
    </p:spTree>
    <p:extLst>
      <p:ext uri="{BB962C8B-B14F-4D97-AF65-F5344CB8AC3E}">
        <p14:creationId xmlns:p14="http://schemas.microsoft.com/office/powerpoint/2010/main" val="2520157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4B7613A-D8DE-40D4-AF3C-5B0377911961}"/>
              </a:ext>
            </a:extLst>
          </p:cNvPr>
          <p:cNvSpPr>
            <a:spLocks noGrp="1"/>
          </p:cNvSpPr>
          <p:nvPr>
            <p:ph type="ctrTitle"/>
          </p:nvPr>
        </p:nvSpPr>
        <p:spPr/>
        <p:txBody>
          <a:bodyPr>
            <a:normAutofit/>
          </a:bodyPr>
          <a:lstStyle/>
          <a:p>
            <a:r>
              <a:rPr lang="en-US" sz="4000" dirty="0"/>
              <a:t>A Writing Critique of “CEO Incentives and Acquisitions: Dasgupta, Shu &amp; Zhu (2025)”</a:t>
            </a:r>
            <a:endParaRPr lang="en-GB" sz="4000" dirty="0"/>
          </a:p>
        </p:txBody>
      </p:sp>
      <p:sp>
        <p:nvSpPr>
          <p:cNvPr id="3" name="Untertitel 2">
            <a:extLst>
              <a:ext uri="{FF2B5EF4-FFF2-40B4-BE49-F238E27FC236}">
                <a16:creationId xmlns:a16="http://schemas.microsoft.com/office/drawing/2014/main" id="{F75F7DDB-C433-42A7-A9D1-3BD9E7C2CB55}"/>
              </a:ext>
            </a:extLst>
          </p:cNvPr>
          <p:cNvSpPr>
            <a:spLocks noGrp="1"/>
          </p:cNvSpPr>
          <p:nvPr>
            <p:ph type="subTitle" idx="1"/>
          </p:nvPr>
        </p:nvSpPr>
        <p:spPr>
          <a:xfrm>
            <a:off x="2696308" y="3777884"/>
            <a:ext cx="6799384" cy="1655762"/>
          </a:xfrm>
        </p:spPr>
        <p:txBody>
          <a:bodyPr/>
          <a:lstStyle/>
          <a:p>
            <a:pPr marL="342900" indent="-342900" algn="l">
              <a:buFont typeface="Arial" panose="020B0604020202020204" pitchFamily="34" charset="0"/>
              <a:buChar char="•"/>
            </a:pPr>
            <a:r>
              <a:rPr lang="en-US" b="0" i="0" u="none" strike="noStrike" dirty="0">
                <a:solidFill>
                  <a:srgbClr val="212121"/>
                </a:solidFill>
                <a:effectLst/>
                <a:latin typeface="Calibri" panose="020F0502020204030204" pitchFamily="34" charset="0"/>
              </a:rPr>
              <a:t>Schmitt, Benedict Rainer (</a:t>
            </a:r>
            <a:r>
              <a:rPr lang="en-US" dirty="0"/>
              <a:t>University of Göttingen</a:t>
            </a:r>
            <a:r>
              <a:rPr lang="en-US" b="0" i="0" u="none" strike="noStrike" dirty="0">
                <a:solidFill>
                  <a:srgbClr val="212121"/>
                </a:solidFill>
                <a:effectLst/>
                <a:latin typeface="Calibri" panose="020F0502020204030204" pitchFamily="34" charset="0"/>
              </a:rPr>
              <a:t>)</a:t>
            </a:r>
          </a:p>
          <a:p>
            <a:pPr marL="342900" indent="-342900" algn="l">
              <a:buFont typeface="Arial" panose="020B0604020202020204" pitchFamily="34" charset="0"/>
              <a:buChar char="•"/>
            </a:pPr>
            <a:r>
              <a:rPr lang="en-US" dirty="0">
                <a:solidFill>
                  <a:srgbClr val="212121"/>
                </a:solidFill>
                <a:latin typeface="Calibri" panose="020F0502020204030204" pitchFamily="34" charset="0"/>
              </a:rPr>
              <a:t>Cao, Xianghan (University of Oulu)</a:t>
            </a:r>
            <a:endParaRPr lang="en-GB" dirty="0"/>
          </a:p>
        </p:txBody>
      </p:sp>
    </p:spTree>
    <p:extLst>
      <p:ext uri="{BB962C8B-B14F-4D97-AF65-F5344CB8AC3E}">
        <p14:creationId xmlns:p14="http://schemas.microsoft.com/office/powerpoint/2010/main" val="3258449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CFA16-1371-A79A-36EE-5439FA9D68BB}"/>
              </a:ext>
            </a:extLst>
          </p:cNvPr>
          <p:cNvSpPr>
            <a:spLocks noGrp="1"/>
          </p:cNvSpPr>
          <p:nvPr>
            <p:ph type="title"/>
          </p:nvPr>
        </p:nvSpPr>
        <p:spPr/>
        <p:txBody>
          <a:bodyPr/>
          <a:lstStyle/>
          <a:p>
            <a:r>
              <a:rPr lang="en-US" b="1" dirty="0"/>
              <a:t>The Paper in 30 Seconds</a:t>
            </a:r>
            <a:endParaRPr lang="en-CN" dirty="0"/>
          </a:p>
        </p:txBody>
      </p:sp>
      <p:sp>
        <p:nvSpPr>
          <p:cNvPr id="3" name="Content Placeholder 2">
            <a:extLst>
              <a:ext uri="{FF2B5EF4-FFF2-40B4-BE49-F238E27FC236}">
                <a16:creationId xmlns:a16="http://schemas.microsoft.com/office/drawing/2014/main" id="{6D2822B5-7ED0-342B-5B3C-6B527D0D98DD}"/>
              </a:ext>
            </a:extLst>
          </p:cNvPr>
          <p:cNvSpPr>
            <a:spLocks noGrp="1"/>
          </p:cNvSpPr>
          <p:nvPr>
            <p:ph idx="1"/>
          </p:nvPr>
        </p:nvSpPr>
        <p:spPr/>
        <p:txBody>
          <a:bodyPr>
            <a:normAutofit/>
          </a:bodyPr>
          <a:lstStyle/>
          <a:p>
            <a:pPr>
              <a:buFont typeface="Arial" panose="020B0604020202020204" pitchFamily="34" charset="0"/>
              <a:buChar char="•"/>
            </a:pPr>
            <a:r>
              <a:rPr lang="en-US" sz="2400" b="1" dirty="0"/>
              <a:t>Setting</a:t>
            </a:r>
            <a:r>
              <a:rPr lang="en-US" sz="2400" dirty="0"/>
              <a:t>: 2017 SEC mandate forcing firms to disclose CEO-to-median-worker pay ratio</a:t>
            </a:r>
          </a:p>
          <a:p>
            <a:pPr>
              <a:buFont typeface="Arial" panose="020B0604020202020204" pitchFamily="34" charset="0"/>
              <a:buChar char="•"/>
            </a:pPr>
            <a:r>
              <a:rPr lang="en-US" sz="2400" b="1" dirty="0"/>
              <a:t>Question</a:t>
            </a:r>
            <a:r>
              <a:rPr lang="en-US" sz="2400" dirty="0"/>
              <a:t>: Did the mandate change CEO pay structure, and did that change CEO behavior?</a:t>
            </a:r>
          </a:p>
          <a:p>
            <a:pPr>
              <a:buFont typeface="Arial" panose="020B0604020202020204" pitchFamily="34" charset="0"/>
              <a:buChar char="•"/>
            </a:pPr>
            <a:r>
              <a:rPr lang="en-US" sz="2400" b="1" dirty="0"/>
              <a:t>Identification</a:t>
            </a:r>
            <a:r>
              <a:rPr lang="en-US" sz="2400" dirty="0"/>
              <a:t>: </a:t>
            </a:r>
            <a:r>
              <a:rPr lang="en-US" sz="2400" dirty="0" err="1"/>
              <a:t>DiD</a:t>
            </a:r>
            <a:r>
              <a:rPr lang="en-US" sz="2400" dirty="0"/>
              <a:t> — </a:t>
            </a:r>
            <a:r>
              <a:rPr lang="en-US" sz="2400" b="1" dirty="0"/>
              <a:t>high vs. low pay-ratio firms</a:t>
            </a:r>
            <a:r>
              <a:rPr lang="en-US" sz="2400" dirty="0"/>
              <a:t>, </a:t>
            </a:r>
            <a:r>
              <a:rPr lang="en-US" sz="2400" b="1" dirty="0"/>
              <a:t>before vs. after 2018</a:t>
            </a:r>
          </a:p>
          <a:p>
            <a:pPr>
              <a:buFont typeface="Arial" panose="020B0604020202020204" pitchFamily="34" charset="0"/>
              <a:buChar char="•"/>
            </a:pPr>
            <a:r>
              <a:rPr lang="en-US" sz="2400" b="1" dirty="0"/>
              <a:t>Finding 1</a:t>
            </a:r>
            <a:r>
              <a:rPr lang="en-US" sz="2400" dirty="0"/>
              <a:t>: High-ratio firms cut </a:t>
            </a:r>
            <a:r>
              <a:rPr lang="en-US" sz="2400" b="1" dirty="0"/>
              <a:t>pay-size</a:t>
            </a:r>
            <a:r>
              <a:rPr lang="en-US" sz="2400" dirty="0"/>
              <a:t> and upside </a:t>
            </a:r>
            <a:r>
              <a:rPr lang="en-US" sz="2400" b="1" dirty="0"/>
              <a:t>pay-performance </a:t>
            </a:r>
            <a:r>
              <a:rPr lang="en-US" sz="2400" dirty="0"/>
              <a:t>sensitivity</a:t>
            </a:r>
          </a:p>
          <a:p>
            <a:pPr>
              <a:buFont typeface="Arial" panose="020B0604020202020204" pitchFamily="34" charset="0"/>
              <a:buChar char="•"/>
            </a:pPr>
            <a:r>
              <a:rPr lang="en-US" sz="2400" b="1" dirty="0"/>
              <a:t>Finding 2</a:t>
            </a:r>
            <a:r>
              <a:rPr lang="en-US" sz="2400" dirty="0"/>
              <a:t>: Those firms then did </a:t>
            </a:r>
            <a:r>
              <a:rPr lang="en-US" sz="2400" b="1" dirty="0"/>
              <a:t>fewer-but-better</a:t>
            </a:r>
            <a:r>
              <a:rPr lang="en-US" sz="2400" dirty="0"/>
              <a:t> large </a:t>
            </a:r>
            <a:r>
              <a:rPr lang="en-US" sz="2400" b="1" dirty="0"/>
              <a:t>M&amp;A deals</a:t>
            </a:r>
            <a:r>
              <a:rPr lang="en-US" sz="2400" dirty="0"/>
              <a:t>, and </a:t>
            </a:r>
            <a:r>
              <a:rPr lang="en-US" sz="2400" b="1" dirty="0"/>
              <a:t>more-but-worse</a:t>
            </a:r>
            <a:r>
              <a:rPr lang="en-US" sz="2400" dirty="0"/>
              <a:t> small ones</a:t>
            </a:r>
          </a:p>
          <a:p>
            <a:endParaRPr lang="en-CN" sz="2400" dirty="0"/>
          </a:p>
        </p:txBody>
      </p:sp>
    </p:spTree>
    <p:extLst>
      <p:ext uri="{BB962C8B-B14F-4D97-AF65-F5344CB8AC3E}">
        <p14:creationId xmlns:p14="http://schemas.microsoft.com/office/powerpoint/2010/main" val="1465563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3750AF-46CD-4006-9BDF-100D965135F4}"/>
              </a:ext>
            </a:extLst>
          </p:cNvPr>
          <p:cNvSpPr>
            <a:spLocks noGrp="1"/>
          </p:cNvSpPr>
          <p:nvPr>
            <p:ph type="title"/>
          </p:nvPr>
        </p:nvSpPr>
        <p:spPr/>
        <p:txBody>
          <a:bodyPr/>
          <a:lstStyle/>
          <a:p>
            <a:r>
              <a:rPr lang="en-GB" dirty="0"/>
              <a:t>Title</a:t>
            </a:r>
          </a:p>
        </p:txBody>
      </p:sp>
      <p:sp>
        <p:nvSpPr>
          <p:cNvPr id="3" name="Textplatzhalter 2">
            <a:extLst>
              <a:ext uri="{FF2B5EF4-FFF2-40B4-BE49-F238E27FC236}">
                <a16:creationId xmlns:a16="http://schemas.microsoft.com/office/drawing/2014/main" id="{C8C4C17A-655A-489F-9DD3-C34AC17F238F}"/>
              </a:ext>
            </a:extLst>
          </p:cNvPr>
          <p:cNvSpPr>
            <a:spLocks noGrp="1"/>
          </p:cNvSpPr>
          <p:nvPr>
            <p:ph type="body" idx="1"/>
          </p:nvPr>
        </p:nvSpPr>
        <p:spPr/>
        <p:txBody>
          <a:bodyPr/>
          <a:lstStyle/>
          <a:p>
            <a:r>
              <a:rPr lang="en-GB" dirty="0"/>
              <a:t>What’s working</a:t>
            </a:r>
          </a:p>
        </p:txBody>
      </p:sp>
      <p:sp>
        <p:nvSpPr>
          <p:cNvPr id="4" name="Inhaltsplatzhalter 3">
            <a:extLst>
              <a:ext uri="{FF2B5EF4-FFF2-40B4-BE49-F238E27FC236}">
                <a16:creationId xmlns:a16="http://schemas.microsoft.com/office/drawing/2014/main" id="{506F9E45-354D-4807-BDB9-DB3CF0F5829A}"/>
              </a:ext>
            </a:extLst>
          </p:cNvPr>
          <p:cNvSpPr>
            <a:spLocks noGrp="1"/>
          </p:cNvSpPr>
          <p:nvPr>
            <p:ph sz="half" idx="2"/>
          </p:nvPr>
        </p:nvSpPr>
        <p:spPr/>
        <p:txBody>
          <a:bodyPr/>
          <a:lstStyle/>
          <a:p>
            <a:r>
              <a:rPr lang="en-GB" dirty="0"/>
              <a:t>“</a:t>
            </a:r>
            <a:r>
              <a:rPr lang="en-GB" dirty="0" err="1"/>
              <a:t>Topic:Setting</a:t>
            </a:r>
            <a:r>
              <a:rPr lang="en-GB" dirty="0"/>
              <a:t>” format, is established and professional</a:t>
            </a:r>
          </a:p>
          <a:p>
            <a:r>
              <a:rPr lang="en-GB" dirty="0"/>
              <a:t>“Evidence from…” format, signals an exogenous shock and credible identification</a:t>
            </a:r>
          </a:p>
        </p:txBody>
      </p:sp>
      <p:sp>
        <p:nvSpPr>
          <p:cNvPr id="5" name="Textplatzhalter 4">
            <a:extLst>
              <a:ext uri="{FF2B5EF4-FFF2-40B4-BE49-F238E27FC236}">
                <a16:creationId xmlns:a16="http://schemas.microsoft.com/office/drawing/2014/main" id="{41941CC2-378F-4660-8011-3ABDBA4088D8}"/>
              </a:ext>
            </a:extLst>
          </p:cNvPr>
          <p:cNvSpPr>
            <a:spLocks noGrp="1"/>
          </p:cNvSpPr>
          <p:nvPr>
            <p:ph type="body" sz="quarter" idx="3"/>
          </p:nvPr>
        </p:nvSpPr>
        <p:spPr/>
        <p:txBody>
          <a:bodyPr/>
          <a:lstStyle/>
          <a:p>
            <a:r>
              <a:rPr lang="en-GB" dirty="0"/>
              <a:t>What’s not working</a:t>
            </a:r>
          </a:p>
        </p:txBody>
      </p:sp>
      <p:sp>
        <p:nvSpPr>
          <p:cNvPr id="6" name="Inhaltsplatzhalter 5">
            <a:extLst>
              <a:ext uri="{FF2B5EF4-FFF2-40B4-BE49-F238E27FC236}">
                <a16:creationId xmlns:a16="http://schemas.microsoft.com/office/drawing/2014/main" id="{FC85D5E3-B252-4075-AD19-2A7AAEB338CD}"/>
              </a:ext>
            </a:extLst>
          </p:cNvPr>
          <p:cNvSpPr>
            <a:spLocks noGrp="1"/>
          </p:cNvSpPr>
          <p:nvPr>
            <p:ph sz="quarter" idx="4"/>
          </p:nvPr>
        </p:nvSpPr>
        <p:spPr/>
        <p:txBody>
          <a:bodyPr/>
          <a:lstStyle/>
          <a:p>
            <a:r>
              <a:rPr lang="en-GB" dirty="0"/>
              <a:t>Punchline, Title neither has thesis nor tension</a:t>
            </a:r>
          </a:p>
          <a:p>
            <a:pPr marL="0" indent="0">
              <a:buNone/>
            </a:pPr>
            <a:r>
              <a:rPr lang="en-GB" dirty="0"/>
              <a:t>But: Paper has two linked findings, hard to compress into one line</a:t>
            </a:r>
          </a:p>
          <a:p>
            <a:r>
              <a:rPr lang="en-GB" dirty="0"/>
              <a:t>Precision, “CEO Incentives” is too generic and might trigger wrong expectations</a:t>
            </a:r>
          </a:p>
        </p:txBody>
      </p:sp>
    </p:spTree>
    <p:extLst>
      <p:ext uri="{BB962C8B-B14F-4D97-AF65-F5344CB8AC3E}">
        <p14:creationId xmlns:p14="http://schemas.microsoft.com/office/powerpoint/2010/main" val="3713704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C16973-1AF6-4B7B-92D4-172B5F722835}"/>
              </a:ext>
            </a:extLst>
          </p:cNvPr>
          <p:cNvSpPr>
            <a:spLocks noGrp="1"/>
          </p:cNvSpPr>
          <p:nvPr>
            <p:ph type="title"/>
          </p:nvPr>
        </p:nvSpPr>
        <p:spPr/>
        <p:txBody>
          <a:bodyPr/>
          <a:lstStyle/>
          <a:p>
            <a:r>
              <a:rPr lang="en-GB" dirty="0"/>
              <a:t>Abstract</a:t>
            </a:r>
          </a:p>
        </p:txBody>
      </p:sp>
      <p:sp>
        <p:nvSpPr>
          <p:cNvPr id="3" name="Textplatzhalter 2">
            <a:extLst>
              <a:ext uri="{FF2B5EF4-FFF2-40B4-BE49-F238E27FC236}">
                <a16:creationId xmlns:a16="http://schemas.microsoft.com/office/drawing/2014/main" id="{30884FFC-755E-460F-B644-98141AD836D3}"/>
              </a:ext>
            </a:extLst>
          </p:cNvPr>
          <p:cNvSpPr>
            <a:spLocks noGrp="1"/>
          </p:cNvSpPr>
          <p:nvPr>
            <p:ph type="body" idx="1"/>
          </p:nvPr>
        </p:nvSpPr>
        <p:spPr/>
        <p:txBody>
          <a:bodyPr/>
          <a:lstStyle/>
          <a:p>
            <a:r>
              <a:rPr lang="en-GB" dirty="0"/>
              <a:t>What’s working</a:t>
            </a:r>
          </a:p>
        </p:txBody>
      </p:sp>
      <p:sp>
        <p:nvSpPr>
          <p:cNvPr id="4" name="Inhaltsplatzhalter 3">
            <a:extLst>
              <a:ext uri="{FF2B5EF4-FFF2-40B4-BE49-F238E27FC236}">
                <a16:creationId xmlns:a16="http://schemas.microsoft.com/office/drawing/2014/main" id="{51CDF9E9-3749-4005-8765-C708C8B57D5F}"/>
              </a:ext>
            </a:extLst>
          </p:cNvPr>
          <p:cNvSpPr>
            <a:spLocks noGrp="1"/>
          </p:cNvSpPr>
          <p:nvPr>
            <p:ph sz="half" idx="2"/>
          </p:nvPr>
        </p:nvSpPr>
        <p:spPr/>
        <p:txBody>
          <a:bodyPr/>
          <a:lstStyle/>
          <a:p>
            <a:r>
              <a:rPr lang="en-GB" dirty="0"/>
              <a:t>Results-only, direct opening is catchy</a:t>
            </a:r>
          </a:p>
          <a:p>
            <a:r>
              <a:rPr lang="en-GB" dirty="0"/>
              <a:t>One-sentence spelled out mechanism (S2), cause </a:t>
            </a:r>
            <a:r>
              <a:rPr lang="en-GB" dirty="0">
                <a:sym typeface="Wingdings" panose="05000000000000000000" pitchFamily="2" charset="2"/>
              </a:rPr>
              <a:t> behaviour  reason</a:t>
            </a:r>
          </a:p>
          <a:p>
            <a:r>
              <a:rPr lang="en-GB" dirty="0"/>
              <a:t>Symmetric contrast (S3), makes the four statements easy memorable</a:t>
            </a:r>
          </a:p>
        </p:txBody>
      </p:sp>
      <p:sp>
        <p:nvSpPr>
          <p:cNvPr id="5" name="Textplatzhalter 4">
            <a:extLst>
              <a:ext uri="{FF2B5EF4-FFF2-40B4-BE49-F238E27FC236}">
                <a16:creationId xmlns:a16="http://schemas.microsoft.com/office/drawing/2014/main" id="{4D7AC694-5747-41AB-B14A-B5BC39BBE438}"/>
              </a:ext>
            </a:extLst>
          </p:cNvPr>
          <p:cNvSpPr>
            <a:spLocks noGrp="1"/>
          </p:cNvSpPr>
          <p:nvPr>
            <p:ph type="body" sz="quarter" idx="3"/>
          </p:nvPr>
        </p:nvSpPr>
        <p:spPr/>
        <p:txBody>
          <a:bodyPr/>
          <a:lstStyle/>
          <a:p>
            <a:r>
              <a:rPr lang="en-GB" dirty="0"/>
              <a:t>What’s not working</a:t>
            </a:r>
          </a:p>
        </p:txBody>
      </p:sp>
      <p:sp>
        <p:nvSpPr>
          <p:cNvPr id="6" name="Inhaltsplatzhalter 5">
            <a:extLst>
              <a:ext uri="{FF2B5EF4-FFF2-40B4-BE49-F238E27FC236}">
                <a16:creationId xmlns:a16="http://schemas.microsoft.com/office/drawing/2014/main" id="{C19B06AB-805A-450A-A119-788DF504D4BB}"/>
              </a:ext>
            </a:extLst>
          </p:cNvPr>
          <p:cNvSpPr>
            <a:spLocks noGrp="1"/>
          </p:cNvSpPr>
          <p:nvPr>
            <p:ph sz="quarter" idx="4"/>
          </p:nvPr>
        </p:nvSpPr>
        <p:spPr/>
        <p:txBody>
          <a:bodyPr/>
          <a:lstStyle/>
          <a:p>
            <a:r>
              <a:rPr lang="en-GB" dirty="0"/>
              <a:t>Hedging opener (S1), makes the paper look boring</a:t>
            </a:r>
          </a:p>
          <a:p>
            <a:r>
              <a:rPr lang="en-GB" dirty="0"/>
              <a:t>Overloading (S1), makes it impossible to remember all claims</a:t>
            </a:r>
          </a:p>
        </p:txBody>
      </p:sp>
    </p:spTree>
    <p:extLst>
      <p:ext uri="{BB962C8B-B14F-4D97-AF65-F5344CB8AC3E}">
        <p14:creationId xmlns:p14="http://schemas.microsoft.com/office/powerpoint/2010/main" val="3591441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2DAA3-83F3-2E9F-C786-D8CC28F64B10}"/>
              </a:ext>
            </a:extLst>
          </p:cNvPr>
          <p:cNvSpPr>
            <a:spLocks noGrp="1"/>
          </p:cNvSpPr>
          <p:nvPr>
            <p:ph type="title"/>
          </p:nvPr>
        </p:nvSpPr>
        <p:spPr/>
        <p:txBody>
          <a:bodyPr/>
          <a:lstStyle/>
          <a:p>
            <a:r>
              <a:rPr lang="en-US" dirty="0"/>
              <a:t>Background</a:t>
            </a:r>
            <a:endParaRPr lang="en-CN" dirty="0"/>
          </a:p>
        </p:txBody>
      </p:sp>
      <p:sp>
        <p:nvSpPr>
          <p:cNvPr id="6" name="TextBox 5">
            <a:extLst>
              <a:ext uri="{FF2B5EF4-FFF2-40B4-BE49-F238E27FC236}">
                <a16:creationId xmlns:a16="http://schemas.microsoft.com/office/drawing/2014/main" id="{6B84594C-4F0D-E59C-DF45-CAC68FD2CC69}"/>
              </a:ext>
            </a:extLst>
          </p:cNvPr>
          <p:cNvSpPr txBox="1"/>
          <p:nvPr/>
        </p:nvSpPr>
        <p:spPr>
          <a:xfrm>
            <a:off x="3221056" y="4999803"/>
            <a:ext cx="4596643" cy="523220"/>
          </a:xfrm>
          <a:prstGeom prst="rect">
            <a:avLst/>
          </a:prstGeom>
          <a:noFill/>
        </p:spPr>
        <p:txBody>
          <a:bodyPr wrap="none" rtlCol="0">
            <a:spAutoFit/>
          </a:bodyPr>
          <a:lstStyle/>
          <a:p>
            <a:r>
              <a:rPr lang="en-CN" sz="1600" dirty="0"/>
              <a:t>Figure 1. Timeline of Pay Ratio Disclosure Mandate. </a:t>
            </a:r>
          </a:p>
          <a:p>
            <a:r>
              <a:rPr lang="en-CN" sz="1200" dirty="0"/>
              <a:t>Generated by Claude (Anthropic)</a:t>
            </a:r>
          </a:p>
        </p:txBody>
      </p:sp>
      <p:pic>
        <p:nvPicPr>
          <p:cNvPr id="13" name="Content Placeholder 12" descr="A diagram of a company&#10;&#10;Description automatically generated with medium confidence">
            <a:extLst>
              <a:ext uri="{FF2B5EF4-FFF2-40B4-BE49-F238E27FC236}">
                <a16:creationId xmlns:a16="http://schemas.microsoft.com/office/drawing/2014/main" id="{006C6BE3-165A-DB78-7A84-DF0F4CB981F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b="18600"/>
          <a:stretch/>
        </p:blipFill>
        <p:spPr>
          <a:xfrm>
            <a:off x="2949017" y="1493482"/>
            <a:ext cx="8956430" cy="3308084"/>
          </a:xfrm>
          <a:prstGeom prst="rect">
            <a:avLst/>
          </a:prstGeom>
        </p:spPr>
      </p:pic>
      <p:sp>
        <p:nvSpPr>
          <p:cNvPr id="14" name="TextBox 13">
            <a:extLst>
              <a:ext uri="{FF2B5EF4-FFF2-40B4-BE49-F238E27FC236}">
                <a16:creationId xmlns:a16="http://schemas.microsoft.com/office/drawing/2014/main" id="{9C0A3FAA-828D-5779-138A-6F0616FB0AD5}"/>
              </a:ext>
            </a:extLst>
          </p:cNvPr>
          <p:cNvSpPr txBox="1"/>
          <p:nvPr/>
        </p:nvSpPr>
        <p:spPr>
          <a:xfrm>
            <a:off x="596257" y="4599693"/>
            <a:ext cx="2191369" cy="923330"/>
          </a:xfrm>
          <a:prstGeom prst="rect">
            <a:avLst/>
          </a:prstGeom>
          <a:noFill/>
        </p:spPr>
        <p:txBody>
          <a:bodyPr wrap="none" rtlCol="0">
            <a:spAutoFit/>
          </a:bodyPr>
          <a:lstStyle/>
          <a:p>
            <a:r>
              <a:rPr lang="en-US" b="1" dirty="0"/>
              <a:t>Major 'landmines’: </a:t>
            </a:r>
          </a:p>
          <a:p>
            <a:pPr marL="285750" indent="-285750">
              <a:buFont typeface="Arial" panose="020B0604020202020204" pitchFamily="34" charset="0"/>
              <a:buChar char="•"/>
            </a:pPr>
            <a:r>
              <a:rPr lang="en-CN" dirty="0"/>
              <a:t>Anticipation</a:t>
            </a:r>
            <a:r>
              <a:rPr lang="zh-CN" altLang="en-US" dirty="0"/>
              <a:t> </a:t>
            </a:r>
            <a:r>
              <a:rPr lang="en-US" altLang="zh-CN" dirty="0"/>
              <a:t>Effect</a:t>
            </a:r>
          </a:p>
          <a:p>
            <a:pPr marL="285750" indent="-285750">
              <a:buFont typeface="Arial" panose="020B0604020202020204" pitchFamily="34" charset="0"/>
              <a:buChar char="•"/>
            </a:pPr>
            <a:r>
              <a:rPr lang="en-US" dirty="0"/>
              <a:t>COVID</a:t>
            </a:r>
            <a:r>
              <a:rPr lang="en-US" altLang="zh-CN" dirty="0"/>
              <a:t>-19</a:t>
            </a:r>
            <a:endParaRPr lang="en-CN" dirty="0"/>
          </a:p>
        </p:txBody>
      </p:sp>
      <p:sp>
        <p:nvSpPr>
          <p:cNvPr id="15" name="TextBox 14">
            <a:extLst>
              <a:ext uri="{FF2B5EF4-FFF2-40B4-BE49-F238E27FC236}">
                <a16:creationId xmlns:a16="http://schemas.microsoft.com/office/drawing/2014/main" id="{FADEC9E3-167C-8C00-525D-5B8F529008E0}"/>
              </a:ext>
            </a:extLst>
          </p:cNvPr>
          <p:cNvSpPr txBox="1"/>
          <p:nvPr/>
        </p:nvSpPr>
        <p:spPr>
          <a:xfrm>
            <a:off x="596257" y="1493482"/>
            <a:ext cx="2352760" cy="2862322"/>
          </a:xfrm>
          <a:prstGeom prst="rect">
            <a:avLst/>
          </a:prstGeom>
          <a:noFill/>
        </p:spPr>
        <p:txBody>
          <a:bodyPr wrap="none" rtlCol="0">
            <a:spAutoFit/>
          </a:bodyPr>
          <a:lstStyle/>
          <a:p>
            <a:r>
              <a:rPr lang="en-US" b="1" dirty="0" err="1"/>
              <a:t>Preperiod</a:t>
            </a:r>
            <a:r>
              <a:rPr lang="en-US" b="1" dirty="0"/>
              <a:t>:</a:t>
            </a:r>
          </a:p>
          <a:p>
            <a:pPr marL="285750" indent="-285750">
              <a:buFont typeface="Arial" panose="020B0604020202020204" pitchFamily="34" charset="0"/>
              <a:buChar char="•"/>
            </a:pPr>
            <a:r>
              <a:rPr lang="en-CN" altLang="zh-CN" dirty="0"/>
              <a:t>2010: Dodd-Frank</a:t>
            </a:r>
          </a:p>
          <a:p>
            <a:pPr marL="285750" indent="-285750">
              <a:buFont typeface="Arial" panose="020B0604020202020204" pitchFamily="34" charset="0"/>
              <a:buChar char="•"/>
            </a:pPr>
            <a:r>
              <a:rPr lang="en-CN" altLang="zh-CN" dirty="0"/>
              <a:t>2013: SEC proposes</a:t>
            </a:r>
          </a:p>
          <a:p>
            <a:pPr marL="285750" indent="-285750">
              <a:buFont typeface="Arial" panose="020B0604020202020204" pitchFamily="34" charset="0"/>
              <a:buChar char="•"/>
            </a:pPr>
            <a:r>
              <a:rPr lang="en-CN" altLang="zh-CN" dirty="0"/>
              <a:t>2015: SEC adopts</a:t>
            </a:r>
          </a:p>
          <a:p>
            <a:pPr marL="285750" indent="-285750">
              <a:buFont typeface="Arial" panose="020B0604020202020204" pitchFamily="34" charset="0"/>
              <a:buChar char="•"/>
            </a:pPr>
            <a:r>
              <a:rPr lang="en-CN" altLang="zh-CN" dirty="0"/>
              <a:t>2017: Rule effects</a:t>
            </a:r>
          </a:p>
          <a:p>
            <a:pPr marL="285750" indent="-285750">
              <a:buFont typeface="Arial" panose="020B0604020202020204" pitchFamily="34" charset="0"/>
              <a:buChar char="•"/>
            </a:pPr>
            <a:r>
              <a:rPr lang="en-CN" altLang="zh-CN" dirty="0"/>
              <a:t>2018: 1st Disclosure</a:t>
            </a:r>
          </a:p>
          <a:p>
            <a:pPr marL="285750" indent="-285750">
              <a:buFont typeface="Arial" panose="020B0604020202020204" pitchFamily="34" charset="0"/>
              <a:buChar char="•"/>
            </a:pPr>
            <a:endParaRPr lang="en-US" altLang="zh-CN" dirty="0"/>
          </a:p>
          <a:p>
            <a:r>
              <a:rPr lang="en-US" b="1" dirty="0"/>
              <a:t>Post-period:</a:t>
            </a:r>
          </a:p>
          <a:p>
            <a:pPr marL="285750" indent="-285750">
              <a:buFont typeface="Arial" panose="020B0604020202020204" pitchFamily="34" charset="0"/>
              <a:buChar char="•"/>
            </a:pPr>
            <a:r>
              <a:rPr lang="en-US" dirty="0"/>
              <a:t>2020: COVID</a:t>
            </a:r>
            <a:r>
              <a:rPr lang="en-US" altLang="zh-CN" dirty="0"/>
              <a:t>-19</a:t>
            </a:r>
          </a:p>
          <a:p>
            <a:pPr marL="285750" indent="-285750">
              <a:buFont typeface="Arial" panose="020B0604020202020204" pitchFamily="34" charset="0"/>
              <a:buChar char="•"/>
            </a:pPr>
            <a:r>
              <a:rPr lang="en-US" dirty="0"/>
              <a:t>2022: ESG</a:t>
            </a:r>
            <a:endParaRPr lang="en-CN" dirty="0"/>
          </a:p>
        </p:txBody>
      </p:sp>
    </p:spTree>
    <p:extLst>
      <p:ext uri="{BB962C8B-B14F-4D97-AF65-F5344CB8AC3E}">
        <p14:creationId xmlns:p14="http://schemas.microsoft.com/office/powerpoint/2010/main" val="2761932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timeline&#10;&#10;Description automatically generated with medium confidence">
            <a:extLst>
              <a:ext uri="{FF2B5EF4-FFF2-40B4-BE49-F238E27FC236}">
                <a16:creationId xmlns:a16="http://schemas.microsoft.com/office/drawing/2014/main" id="{0568DC82-7DEE-8A8B-9218-C0DFDA1DE07D}"/>
              </a:ext>
            </a:extLst>
          </p:cNvPr>
          <p:cNvPicPr>
            <a:picLocks noChangeAspect="1"/>
          </p:cNvPicPr>
          <p:nvPr/>
        </p:nvPicPr>
        <p:blipFill>
          <a:blip r:embed="rId3">
            <a:extLst>
              <a:ext uri="{28A0092B-C50C-407E-A947-70E740481C1C}">
                <a14:useLocalDpi xmlns:a14="http://schemas.microsoft.com/office/drawing/2010/main" val="0"/>
              </a:ext>
            </a:extLst>
          </a:blip>
          <a:srcRect r="4123"/>
          <a:stretch/>
        </p:blipFill>
        <p:spPr>
          <a:xfrm>
            <a:off x="3373885" y="1253331"/>
            <a:ext cx="8313744" cy="4351338"/>
          </a:xfrm>
          <a:prstGeom prst="rect">
            <a:avLst/>
          </a:prstGeom>
        </p:spPr>
      </p:pic>
      <p:sp>
        <p:nvSpPr>
          <p:cNvPr id="2" name="Title 1">
            <a:extLst>
              <a:ext uri="{FF2B5EF4-FFF2-40B4-BE49-F238E27FC236}">
                <a16:creationId xmlns:a16="http://schemas.microsoft.com/office/drawing/2014/main" id="{B82AAE7A-7BE2-F2B8-BA89-CA560B4EB831}"/>
              </a:ext>
            </a:extLst>
          </p:cNvPr>
          <p:cNvSpPr>
            <a:spLocks noGrp="1"/>
          </p:cNvSpPr>
          <p:nvPr>
            <p:ph type="title"/>
          </p:nvPr>
        </p:nvSpPr>
        <p:spPr/>
        <p:txBody>
          <a:bodyPr/>
          <a:lstStyle/>
          <a:p>
            <a:r>
              <a:rPr lang="en-CN" dirty="0"/>
              <a:t>Data</a:t>
            </a:r>
          </a:p>
        </p:txBody>
      </p:sp>
      <p:sp>
        <p:nvSpPr>
          <p:cNvPr id="3" name="Content Placeholder 2">
            <a:extLst>
              <a:ext uri="{FF2B5EF4-FFF2-40B4-BE49-F238E27FC236}">
                <a16:creationId xmlns:a16="http://schemas.microsoft.com/office/drawing/2014/main" id="{3273F098-7CCF-EEC7-3D46-D98254191DC7}"/>
              </a:ext>
            </a:extLst>
          </p:cNvPr>
          <p:cNvSpPr>
            <a:spLocks noGrp="1"/>
          </p:cNvSpPr>
          <p:nvPr>
            <p:ph idx="1"/>
          </p:nvPr>
        </p:nvSpPr>
        <p:spPr>
          <a:xfrm>
            <a:off x="504371" y="1492160"/>
            <a:ext cx="3167743" cy="4351338"/>
          </a:xfrm>
        </p:spPr>
        <p:txBody>
          <a:bodyPr>
            <a:normAutofit/>
          </a:bodyPr>
          <a:lstStyle/>
          <a:p>
            <a:pPr marL="0" indent="0">
              <a:buNone/>
            </a:pPr>
            <a:r>
              <a:rPr lang="en-US" sz="1800" b="1" dirty="0"/>
              <a:t>Data Sample</a:t>
            </a:r>
          </a:p>
          <a:p>
            <a:r>
              <a:rPr lang="en-US" sz="1800" dirty="0"/>
              <a:t>Data Length: 2012-2022</a:t>
            </a:r>
          </a:p>
          <a:p>
            <a:r>
              <a:rPr lang="en-US" sz="1800" dirty="0"/>
              <a:t>Databases: </a:t>
            </a:r>
            <a:r>
              <a:rPr lang="en-US" sz="1800" dirty="0" err="1"/>
              <a:t>ExecuComp</a:t>
            </a:r>
            <a:r>
              <a:rPr lang="en-US" sz="1800" dirty="0"/>
              <a:t>, SDC</a:t>
            </a:r>
          </a:p>
          <a:p>
            <a:pPr marL="0" indent="0">
              <a:buNone/>
            </a:pPr>
            <a:endParaRPr lang="en-US" sz="1800" b="1" dirty="0"/>
          </a:p>
          <a:p>
            <a:pPr marL="0" indent="0">
              <a:buNone/>
            </a:pPr>
            <a:endParaRPr lang="en-US" sz="1800" b="1" dirty="0"/>
          </a:p>
          <a:p>
            <a:pPr marL="0" indent="0">
              <a:buNone/>
            </a:pPr>
            <a:r>
              <a:rPr lang="en-US" sz="1800" b="1" dirty="0"/>
              <a:t>As a reader:</a:t>
            </a:r>
          </a:p>
          <a:p>
            <a:r>
              <a:rPr lang="en-US" sz="1800" dirty="0"/>
              <a:t>Why did they stop at 2022? </a:t>
            </a:r>
          </a:p>
          <a:p>
            <a:r>
              <a:rPr lang="en-US" sz="1800" dirty="0"/>
              <a:t>Did the results from the later years not support their story? </a:t>
            </a:r>
            <a:endParaRPr lang="en-CN" sz="1800" dirty="0"/>
          </a:p>
        </p:txBody>
      </p:sp>
      <p:sp>
        <p:nvSpPr>
          <p:cNvPr id="7" name="TextBox 6">
            <a:extLst>
              <a:ext uri="{FF2B5EF4-FFF2-40B4-BE49-F238E27FC236}">
                <a16:creationId xmlns:a16="http://schemas.microsoft.com/office/drawing/2014/main" id="{D9786A76-EACA-00EF-7875-2C58620A1B7B}"/>
              </a:ext>
            </a:extLst>
          </p:cNvPr>
          <p:cNvSpPr txBox="1"/>
          <p:nvPr/>
        </p:nvSpPr>
        <p:spPr>
          <a:xfrm>
            <a:off x="3878256" y="5843498"/>
            <a:ext cx="6950749" cy="523220"/>
          </a:xfrm>
          <a:prstGeom prst="rect">
            <a:avLst/>
          </a:prstGeom>
          <a:noFill/>
        </p:spPr>
        <p:txBody>
          <a:bodyPr wrap="none" rtlCol="0">
            <a:spAutoFit/>
          </a:bodyPr>
          <a:lstStyle/>
          <a:p>
            <a:r>
              <a:rPr lang="en-CN" sz="1600" dirty="0"/>
              <a:t>Figure 2. Timeline of Pay Ratio Disclosure Mandate and Paper’s sample selection. </a:t>
            </a:r>
          </a:p>
          <a:p>
            <a:r>
              <a:rPr lang="en-CN" sz="1200" dirty="0"/>
              <a:t>Generated by Claude (Anthropic)</a:t>
            </a:r>
          </a:p>
        </p:txBody>
      </p:sp>
    </p:spTree>
    <p:extLst>
      <p:ext uri="{BB962C8B-B14F-4D97-AF65-F5344CB8AC3E}">
        <p14:creationId xmlns:p14="http://schemas.microsoft.com/office/powerpoint/2010/main" val="382371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table of numbers and text&#10;&#10;Description automatically generated with medium confidence">
            <a:extLst>
              <a:ext uri="{FF2B5EF4-FFF2-40B4-BE49-F238E27FC236}">
                <a16:creationId xmlns:a16="http://schemas.microsoft.com/office/drawing/2014/main" id="{B00FA1CB-5F58-63B5-FC0F-EC886A523688}"/>
              </a:ext>
            </a:extLst>
          </p:cNvPr>
          <p:cNvPicPr>
            <a:picLocks noChangeAspect="1"/>
          </p:cNvPicPr>
          <p:nvPr/>
        </p:nvPicPr>
        <p:blipFill>
          <a:blip r:embed="rId3">
            <a:extLst>
              <a:ext uri="{28A0092B-C50C-407E-A947-70E740481C1C}">
                <a14:useLocalDpi xmlns:a14="http://schemas.microsoft.com/office/drawing/2010/main" val="0"/>
              </a:ext>
            </a:extLst>
          </a:blip>
          <a:srcRect t="498" r="4733" b="1"/>
          <a:stretch/>
        </p:blipFill>
        <p:spPr>
          <a:xfrm>
            <a:off x="5280419" y="1172344"/>
            <a:ext cx="6495906" cy="5096468"/>
          </a:xfrm>
          <a:prstGeom prst="rect">
            <a:avLst/>
          </a:prstGeom>
        </p:spPr>
      </p:pic>
      <p:sp>
        <p:nvSpPr>
          <p:cNvPr id="2" name="Title 1">
            <a:extLst>
              <a:ext uri="{FF2B5EF4-FFF2-40B4-BE49-F238E27FC236}">
                <a16:creationId xmlns:a16="http://schemas.microsoft.com/office/drawing/2014/main" id="{D75714C2-7C6A-A790-D552-A7608FB220ED}"/>
              </a:ext>
            </a:extLst>
          </p:cNvPr>
          <p:cNvSpPr>
            <a:spLocks noGrp="1"/>
          </p:cNvSpPr>
          <p:nvPr>
            <p:ph type="title"/>
          </p:nvPr>
        </p:nvSpPr>
        <p:spPr/>
        <p:txBody>
          <a:bodyPr/>
          <a:lstStyle/>
          <a:p>
            <a:r>
              <a:rPr lang="en-US" b="1" dirty="0"/>
              <a:t>What the paper does well</a:t>
            </a:r>
            <a:endParaRPr lang="en-CN" b="1" dirty="0"/>
          </a:p>
        </p:txBody>
      </p:sp>
      <p:sp>
        <p:nvSpPr>
          <p:cNvPr id="3" name="Content Placeholder 2">
            <a:extLst>
              <a:ext uri="{FF2B5EF4-FFF2-40B4-BE49-F238E27FC236}">
                <a16:creationId xmlns:a16="http://schemas.microsoft.com/office/drawing/2014/main" id="{DF5D128F-61F1-3BE0-28E6-CEF8ABE1E678}"/>
              </a:ext>
            </a:extLst>
          </p:cNvPr>
          <p:cNvSpPr>
            <a:spLocks noGrp="1"/>
          </p:cNvSpPr>
          <p:nvPr>
            <p:ph idx="1"/>
          </p:nvPr>
        </p:nvSpPr>
        <p:spPr>
          <a:xfrm>
            <a:off x="838200" y="1825625"/>
            <a:ext cx="4683369" cy="4351338"/>
          </a:xfrm>
        </p:spPr>
        <p:txBody>
          <a:bodyPr>
            <a:normAutofit/>
          </a:bodyPr>
          <a:lstStyle/>
          <a:p>
            <a:r>
              <a:rPr lang="en-US" sz="2000" dirty="0"/>
              <a:t>The paper is well-referenced</a:t>
            </a:r>
          </a:p>
          <a:p>
            <a:r>
              <a:rPr lang="en-US" sz="2000" dirty="0"/>
              <a:t>Figures and tables that follow academic standards</a:t>
            </a:r>
          </a:p>
          <a:p>
            <a:r>
              <a:rPr lang="en-US" sz="2000" dirty="0"/>
              <a:t>The explanation of data sources is very thorough</a:t>
            </a:r>
            <a:endParaRPr lang="en-CN" sz="2000" dirty="0"/>
          </a:p>
        </p:txBody>
      </p:sp>
    </p:spTree>
    <p:extLst>
      <p:ext uri="{BB962C8B-B14F-4D97-AF65-F5344CB8AC3E}">
        <p14:creationId xmlns:p14="http://schemas.microsoft.com/office/powerpoint/2010/main" val="2141968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338FA-3AFE-24DD-331B-D827331BEB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77650-B218-52EA-DEB2-26396762BE50}"/>
              </a:ext>
            </a:extLst>
          </p:cNvPr>
          <p:cNvSpPr>
            <a:spLocks noGrp="1"/>
          </p:cNvSpPr>
          <p:nvPr>
            <p:ph type="title"/>
          </p:nvPr>
        </p:nvSpPr>
        <p:spPr/>
        <p:txBody>
          <a:bodyPr/>
          <a:lstStyle/>
          <a:p>
            <a:r>
              <a:rPr lang="en-US" b="1" dirty="0"/>
              <a:t>On AI use</a:t>
            </a:r>
            <a:endParaRPr lang="en-CN" b="1" dirty="0"/>
          </a:p>
        </p:txBody>
      </p:sp>
      <p:sp>
        <p:nvSpPr>
          <p:cNvPr id="3" name="Content Placeholder 2">
            <a:extLst>
              <a:ext uri="{FF2B5EF4-FFF2-40B4-BE49-F238E27FC236}">
                <a16:creationId xmlns:a16="http://schemas.microsoft.com/office/drawing/2014/main" id="{9500BC75-3858-8DDB-10C5-B3704B4BE529}"/>
              </a:ext>
            </a:extLst>
          </p:cNvPr>
          <p:cNvSpPr>
            <a:spLocks noGrp="1"/>
          </p:cNvSpPr>
          <p:nvPr>
            <p:ph idx="1"/>
          </p:nvPr>
        </p:nvSpPr>
        <p:spPr/>
        <p:txBody>
          <a:bodyPr/>
          <a:lstStyle/>
          <a:p>
            <a:r>
              <a:rPr lang="en-US" dirty="0"/>
              <a:t>We used Claude (Anthropic) to generate the timeline figures (slides 5 and 6) </a:t>
            </a:r>
          </a:p>
          <a:p>
            <a:r>
              <a:rPr lang="en-US" dirty="0"/>
              <a:t>We asked Gemini (Google) whether the absence of a Discussion section is unusual in empirical finance — Gemini said no. We</a:t>
            </a:r>
            <a:r>
              <a:rPr lang="zh-CN" altLang="en-US" dirty="0"/>
              <a:t> </a:t>
            </a:r>
            <a:r>
              <a:rPr lang="en-US" altLang="zh-CN" dirty="0"/>
              <a:t>are</a:t>
            </a:r>
            <a:r>
              <a:rPr lang="en-US" dirty="0"/>
              <a:t> unsure whether to trust this, and welcome the class's view. </a:t>
            </a:r>
          </a:p>
          <a:p>
            <a:r>
              <a:rPr lang="en-US" dirty="0"/>
              <a:t>All judgments and writing choices on these slides are our own</a:t>
            </a:r>
            <a:endParaRPr lang="en-CN" dirty="0"/>
          </a:p>
        </p:txBody>
      </p:sp>
    </p:spTree>
    <p:extLst>
      <p:ext uri="{BB962C8B-B14F-4D97-AF65-F5344CB8AC3E}">
        <p14:creationId xmlns:p14="http://schemas.microsoft.com/office/powerpoint/2010/main" val="1457811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2BEBA-3806-A8A7-CC00-F8AB975CDFBC}"/>
              </a:ext>
            </a:extLst>
          </p:cNvPr>
          <p:cNvSpPr>
            <a:spLocks noGrp="1"/>
          </p:cNvSpPr>
          <p:nvPr>
            <p:ph type="title"/>
          </p:nvPr>
        </p:nvSpPr>
        <p:spPr>
          <a:xfrm>
            <a:off x="838200" y="2103437"/>
            <a:ext cx="10515600" cy="1325563"/>
          </a:xfrm>
        </p:spPr>
        <p:txBody>
          <a:bodyPr>
            <a:normAutofit/>
          </a:bodyPr>
          <a:lstStyle/>
          <a:p>
            <a:pPr algn="ctr"/>
            <a:r>
              <a:rPr lang="en-CN" sz="5400" b="1" dirty="0"/>
              <a:t>Thank you!</a:t>
            </a:r>
          </a:p>
        </p:txBody>
      </p:sp>
    </p:spTree>
    <p:extLst>
      <p:ext uri="{BB962C8B-B14F-4D97-AF65-F5344CB8AC3E}">
        <p14:creationId xmlns:p14="http://schemas.microsoft.com/office/powerpoint/2010/main" val="131713469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2581</TotalTime>
  <Words>875</Words>
  <Application>Microsoft Macintosh PowerPoint</Application>
  <PresentationFormat>Widescreen</PresentationFormat>
  <Paragraphs>87</Paragraphs>
  <Slides>9</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Wingdings</vt:lpstr>
      <vt:lpstr>Office</vt:lpstr>
      <vt:lpstr>A Writing Critique of “CEO Incentives and Acquisitions: Dasgupta, Shu &amp; Zhu (2025)”</vt:lpstr>
      <vt:lpstr>The Paper in 30 Seconds</vt:lpstr>
      <vt:lpstr>Title</vt:lpstr>
      <vt:lpstr>Abstract</vt:lpstr>
      <vt:lpstr>Background</vt:lpstr>
      <vt:lpstr>Data</vt:lpstr>
      <vt:lpstr>What the paper does well</vt:lpstr>
      <vt:lpstr>On AI use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Schmitt, Benedict Rainer</dc:creator>
  <cp:lastModifiedBy>Cao Xianghan</cp:lastModifiedBy>
  <cp:revision>34</cp:revision>
  <cp:lastPrinted>2026-05-11T14:44:58Z</cp:lastPrinted>
  <dcterms:created xsi:type="dcterms:W3CDTF">2026-05-04T12:55:17Z</dcterms:created>
  <dcterms:modified xsi:type="dcterms:W3CDTF">2026-05-11T19:19:44Z</dcterms:modified>
</cp:coreProperties>
</file>